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00c026c86a470f" /><Relationship Type="http://schemas.openxmlformats.org/officeDocument/2006/relationships/extended-properties" Target="/docProps/app.xml" Id="R0f2d6798a81247fc" /><Relationship Type="http://schemas.openxmlformats.org/officeDocument/2006/relationships/officeDocument" Target="/ppt/presentation.xml" Id="R538b783bc1ce4134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b07bce9f3a6541cd"/>
    <p:sldMasterId xmlns:r="http://schemas.openxmlformats.org/officeDocument/2006/relationships" id="2147483655" r:id="Re2fd2b8f4dee4b29"/>
  </p:sldMasterIdLst>
  <p:notesMasterIdLst>
    <p:notesMasterId xmlns:r="http://schemas.openxmlformats.org/officeDocument/2006/relationships" r:id="R2b4c36f88e4e48de"/>
  </p:notesMasterIdLst>
  <p:sldIdLst>
    <p:sldId xmlns:r="http://schemas.openxmlformats.org/officeDocument/2006/relationships" id="256" r:id="R4831f4cc546c40ea"/>
    <p:sldId xmlns:r="http://schemas.openxmlformats.org/officeDocument/2006/relationships" id="257" r:id="Rfd3f07d057e34364"/>
    <p:sldId xmlns:r="http://schemas.openxmlformats.org/officeDocument/2006/relationships" id="258" r:id="R9f4a165c5a504636"/>
    <p:sldId xmlns:r="http://schemas.openxmlformats.org/officeDocument/2006/relationships" id="259" r:id="Rcf43c4ebd15b4390"/>
    <p:sldId xmlns:r="http://schemas.openxmlformats.org/officeDocument/2006/relationships" id="260" r:id="R979e323614414eac"/>
    <p:sldId xmlns:r="http://schemas.openxmlformats.org/officeDocument/2006/relationships" id="261" r:id="R30d5383bcff24732"/>
    <p:sldId xmlns:r="http://schemas.openxmlformats.org/officeDocument/2006/relationships" id="262" r:id="R1754a6143147407b"/>
    <p:sldId xmlns:r="http://schemas.openxmlformats.org/officeDocument/2006/relationships" id="263" r:id="R2d41683c325342bd"/>
    <p:sldId xmlns:r="http://schemas.openxmlformats.org/officeDocument/2006/relationships" id="264" r:id="Rb93bfc47c6314622"/>
    <p:sldId xmlns:r="http://schemas.openxmlformats.org/officeDocument/2006/relationships" id="265" r:id="R6141da769efa4c89"/>
  </p:sldIdLst>
  <p:sldSz cx="12192000" cy="6858000"/>
  <p:notesSz cx="6858000" cy="9144000"/>
  <p:embeddedFontLst>
    <p:embeddedFont>
      <p:font typeface="微软雅黑"/>
      <p:regular xmlns:r="http://schemas.openxmlformats.org/officeDocument/2006/relationships" r:id="Rc8c7642685904668"/>
    </p:embeddedFont>
    <p:embeddedFont>
      <p:font typeface="微软雅黑"/>
      <p:bold xmlns:r="http://schemas.openxmlformats.org/officeDocument/2006/relationships" r:id="R4bc71cccd8f64f88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db346cd1374105" /><Relationship Type="http://schemas.openxmlformats.org/officeDocument/2006/relationships/slideMaster" Target="/ppt/slideMasters/slideMaster1.xml" Id="Rb07bce9f3a6541cd" /><Relationship Type="http://schemas.openxmlformats.org/officeDocument/2006/relationships/slideMaster" Target="/ppt/slideMasters/slideMaster2.xml" Id="Re2fd2b8f4dee4b29" /><Relationship Type="http://schemas.openxmlformats.org/officeDocument/2006/relationships/notesMaster" Target="/ppt/notesMasters/notesMaster1.xml" Id="R2b4c36f88e4e48de" /><Relationship Type="http://schemas.openxmlformats.org/officeDocument/2006/relationships/presProps" Target="/ppt/presProps.xml" Id="R3a87c902e23c44c3" /><Relationship Type="http://schemas.openxmlformats.org/officeDocument/2006/relationships/tableStyles" Target="/ppt/tableStyles.xml" Id="R1ec67cb69d744a4f" /><Relationship Type="http://schemas.openxmlformats.org/officeDocument/2006/relationships/font" Target="/ppt/fonts/font.dat" Id="Rc8c7642685904668" /><Relationship Type="http://schemas.openxmlformats.org/officeDocument/2006/relationships/font" Target="/ppt/fonts/font2.dat" Id="R4bc71cccd8f64f88" /><Relationship Type="http://schemas.openxmlformats.org/officeDocument/2006/relationships/slide" Target="/ppt/slides/slide1.xml" Id="R4831f4cc546c40ea" /><Relationship Type="http://schemas.openxmlformats.org/officeDocument/2006/relationships/slide" Target="/ppt/slides/slide2.xml" Id="Rfd3f07d057e34364" /><Relationship Type="http://schemas.openxmlformats.org/officeDocument/2006/relationships/slide" Target="/ppt/slides/slide3.xml" Id="R9f4a165c5a504636" /><Relationship Type="http://schemas.openxmlformats.org/officeDocument/2006/relationships/slide" Target="/ppt/slides/slide4.xml" Id="Rcf43c4ebd15b4390" /><Relationship Type="http://schemas.openxmlformats.org/officeDocument/2006/relationships/slide" Target="/ppt/slides/slide5.xml" Id="R979e323614414eac" /><Relationship Type="http://schemas.openxmlformats.org/officeDocument/2006/relationships/slide" Target="/ppt/slides/slide6.xml" Id="R30d5383bcff24732" /><Relationship Type="http://schemas.openxmlformats.org/officeDocument/2006/relationships/slide" Target="/ppt/slides/slide7.xml" Id="R1754a6143147407b" /><Relationship Type="http://schemas.openxmlformats.org/officeDocument/2006/relationships/slide" Target="/ppt/slides/slide8.xml" Id="R2d41683c325342bd" /><Relationship Type="http://schemas.openxmlformats.org/officeDocument/2006/relationships/slide" Target="/ppt/slides/slide9.xml" Id="Rb93bfc47c6314622" /><Relationship Type="http://schemas.openxmlformats.org/officeDocument/2006/relationships/slide" Target="/ppt/slides/slide10.xml" Id="R6141da769efa4c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8efeba108ee4f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979e16666e447e" /><Relationship Type="http://schemas.openxmlformats.org/officeDocument/2006/relationships/notesMaster" Target="/ppt/notesMasters/notesMaster1.xml" Id="Rf7f9fd682a9844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b3cad3b9474816" /><Relationship Type="http://schemas.openxmlformats.org/officeDocument/2006/relationships/notesMaster" Target="/ppt/notesMasters/notesMaster1.xml" Id="R8bc40b2faa804e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fa538b2ef24346" /><Relationship Type="http://schemas.openxmlformats.org/officeDocument/2006/relationships/notesMaster" Target="/ppt/notesMasters/notesMaster1.xml" Id="R0e7b721a585343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fb6af28bf645e7" /><Relationship Type="http://schemas.openxmlformats.org/officeDocument/2006/relationships/notesMaster" Target="/ppt/notesMasters/notesMaster1.xml" Id="Rd6abcba976db43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2d18c50b19479d" /><Relationship Type="http://schemas.openxmlformats.org/officeDocument/2006/relationships/notesMaster" Target="/ppt/notesMasters/notesMaster1.xml" Id="R497ac0e549b145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e4e8049b6e4956" /><Relationship Type="http://schemas.openxmlformats.org/officeDocument/2006/relationships/notesMaster" Target="/ppt/notesMasters/notesMaster1.xml" Id="R657e12edf8ad4c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ffe6fccb314dcf" /><Relationship Type="http://schemas.openxmlformats.org/officeDocument/2006/relationships/notesMaster" Target="/ppt/notesMasters/notesMaster1.xml" Id="R68dbe94e44d04a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1d1d61bba14315" /><Relationship Type="http://schemas.openxmlformats.org/officeDocument/2006/relationships/notesMaster" Target="/ppt/notesMasters/notesMaster1.xml" Id="R955f484a578f4b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c6982f71144ba0" /><Relationship Type="http://schemas.openxmlformats.org/officeDocument/2006/relationships/notesMaster" Target="/ppt/notesMasters/notesMaster1.xml" Id="R0beddc61b4a34e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6b28ce83dc45d6" /><Relationship Type="http://schemas.openxmlformats.org/officeDocument/2006/relationships/notesMaster" Target="/ppt/notesMasters/notesMaster1.xml" Id="Rc04420c51d524e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本次汇报覆盖当前所有本地修复。研究问题仍是同模型、同信息与同资源上限下的模式选择。工作重心是实验可比性和集成准备，没有新的真实方法效果结论。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本地资料来源：docs/开题报告正文摘录.md；docs/修复验收与dev准备_20261030.md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五组保持原设计。A 为固定流程，B 从零交互，C 对可继续失败级联，D 按失败证据选择，E 匹配 D 的 eligible 触发率随机选择。当前处于离线验收后的研究原型阶段。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本地资料来源：docs/实验协议_开题对齐.md；configs/proposal_v1.json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上一轮复核发现的主要问题覆盖路由、执行、预算及判分校准。此次还增加 seed/run/预测哈希检查、公开验证真实退出码、交互状态校验和完整 dev 台账。历史分析与旧合成复现保持原样。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本地资料来源：docs/项目现状与源码复核_20261029.md；docs/修复验收与dev准备_20261030.md；当前 git diff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正式只运行所选路线，配对诊断只针对 eligible 前缀失败。固定和交互恢复独立状态与相同剩余预算，各自使用新容器。镜像身份来自实际运行容器，基线提交必须匹配。缓存命中仍完整计入策略前缀成本，另记新增生成成本。该机制已通过假容器回归，真实隔离尚未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本地资料来源：src/swe_repair/experiment.py；src/swe_repair/prefix.py；tests/test_experiment.py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外部绝对帧不再缩成 basename，测试路径识别在路由与补丁范围中一致。环境恢复绑定原失败候选，只允许同一公开命令确定性重验一次。恢复后测试确实可运行才清除环境故障。合法相对帧仍按 checkout cwd 解释，文件存在性和 symlink 未实测。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本地资料来源：src/swe_repair/fingerprint.py；src/swe_repair/patchutil.py；src/swe_repair/prefix.py；tests/test_routing_evidence.py；tests/test_public_validation.py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固定最多六轮生成只是开发限额，空输出也占轮次，不代表已冻结的最优候选数。交互会话限制六次实际模型请求、十次具名工具和420秒，重试占请求额度，最终调用预留在上限内。全局四元预算为512000 token、12请求、80次container exec及1200秒。未知usage的资源和费用采用保守预留，不是实付。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本地资料来源：configs/proposal_v1.json；src/swe_repair/execution.py；src/swe_repair/interact.py；tests/test_interaction_contracts.py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 scoring sidecar 绑定 matrix、预测文件字节、每实例补丁、arm/split/seed/repeat/config 和报告。新分析器默认拒绝无关联或不匹配标签。阈值拟合需要完整配对标签，E概率则在全部eligible dev前缀上回放，分母不随判分缺失缩小。主分析保留指定总体，次分析报告各组均可运行子集。模型失败和空补丁不能因成绩不佳被排除。当前只有单预算比较点。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本地资料来源：src/swe_repair/evaluation.py；scripts/score_run.py；scripts/analyse_cf.py；src/swe_repair/calibration.py；src/swe_repair/statistics.py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2026年10月30日的验收记录为Python3.14.2活动离线套件291/291通过，较222项新增69项。原始资产93/93与归档原件131/131哈希一致。包含假harness生成sidecar到CLI分析往返。此处不是修复成功率，也不是官方判分结果。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本地资料来源：runs/dev_preparation_20261030/validation.json；docs/修复验收与dev准备_20261030.md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样本按完整dev23的实例ID和仓库分布、种子20261030确定，没有使用旧模型成绩或gold通过名单。先验收pvlib，再扩展pydicom和pyvista，不因失败静默换例。所有计划execute=false，完整23例均留存not_run/not_verified/not_scored状态。2CNY为单策略实例守卫，6CNY为批次守卫。三例双分支加独立B的保守上界18CNY不是批准预算或实付，批次守卫可能先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本地资料来源：runs/dev_preparation_20261030/instances.json；first_instance.json；remaining_instances.json；full_dev_coverage.json；preparation.json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model_version、路由两个阈值和E概率仍为null，状态draft-pending-calibration，live_authorized=false。小范围集成仍需新明确授权和服务模型版本锁定。宿主Python未发现requests/pyarrow/swebench，PATH未发现Docker，WSL内部环境尚未检查。完整dev校准、正式至少三次重复、独立判分、统计、消融、敏感性和人工语义审查仍待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本地资料来源：configs/proposal_v1.json；runs/dev_preparation_20261030/preparation.json；docs/实验协议_开题对齐.md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a86803cd34b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d96c2d60f43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096f6f18934d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54edeab1a344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205dbde05440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aaccc932474a8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1f90f167f04438" /><Relationship Type="http://schemas.openxmlformats.org/officeDocument/2006/relationships/image" Target="/ppt/media/image.png" Id="R766377ae6cfb47c1" /><Relationship Type="http://schemas.openxmlformats.org/officeDocument/2006/relationships/image" Target="/ppt/media/image2.png" Id="R32eae5196c45445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10dfcd6091e481e" /><Relationship Type="http://schemas.openxmlformats.org/officeDocument/2006/relationships/image" Target="/ppt/media/image2.png" Id="Rb835db32292342a5" /><Relationship Type="http://schemas.openxmlformats.org/officeDocument/2006/relationships/image" Target="/ppt/media/image3.png" Id="Ra57315568e244df8" /><Relationship Type="http://schemas.openxmlformats.org/officeDocument/2006/relationships/image" Target="/ppt/media/image4.png" Id="R53fc8b8052d54408" /><Relationship Type="http://schemas.openxmlformats.org/officeDocument/2006/relationships/image" Target="/ppt/media/image.svg" Id="R0ffd21a4ed054a6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8d7c5550944f39" /><Relationship Type="http://schemas.openxmlformats.org/officeDocument/2006/relationships/image" Target="/ppt/media/image2.png" Id="R7acc5d09a842450a" /><Relationship Type="http://schemas.openxmlformats.org/officeDocument/2006/relationships/image" Target="/ppt/media/image3.png" Id="R6d022e0e0ec546f6" /><Relationship Type="http://schemas.openxmlformats.org/officeDocument/2006/relationships/image" Target="/ppt/media/image4.png" Id="Rbaa945268569454c" /><Relationship Type="http://schemas.openxmlformats.org/officeDocument/2006/relationships/image" Target="/ppt/media/image.svg" Id="R32c77a0e1b2f488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16fa7a0a7a4056" /><Relationship Type="http://schemas.openxmlformats.org/officeDocument/2006/relationships/image" Target="/ppt/media/image2.png" Id="Ra6ee645da72b4a90" /><Relationship Type="http://schemas.openxmlformats.org/officeDocument/2006/relationships/image" Target="/ppt/media/image3.png" Id="R2eb2b253ed2d4650" /><Relationship Type="http://schemas.openxmlformats.org/officeDocument/2006/relationships/image" Target="/ppt/media/image4.png" Id="R0a5283eda9174c7f" /><Relationship Type="http://schemas.openxmlformats.org/officeDocument/2006/relationships/image" Target="/ppt/media/image.svg" Id="R9c992885f39b4f6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2fe8ec93e2f4c08" /><Relationship Type="http://schemas.openxmlformats.org/officeDocument/2006/relationships/image" Target="/ppt/media/image2.png" Id="R9eb8de8603444d8d" /><Relationship Type="http://schemas.openxmlformats.org/officeDocument/2006/relationships/image" Target="/ppt/media/image3.png" Id="R50eadd1167954dd5" /><Relationship Type="http://schemas.openxmlformats.org/officeDocument/2006/relationships/image" Target="/ppt/media/image4.png" Id="R2e7f2dcae4634018" /><Relationship Type="http://schemas.openxmlformats.org/officeDocument/2006/relationships/image" Target="/ppt/media/image.svg" Id="R2204c4a64d574c8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d468ce62d040fc" /><Relationship Type="http://schemas.openxmlformats.org/officeDocument/2006/relationships/image" Target="/ppt/media/image2.png" Id="Rd1d98eb5f8db4d98" /><Relationship Type="http://schemas.openxmlformats.org/officeDocument/2006/relationships/image" Target="/ppt/media/image3.png" Id="R65b4b6dceb9447c3" /><Relationship Type="http://schemas.openxmlformats.org/officeDocument/2006/relationships/image" Target="/ppt/media/image4.png" Id="R3d4c659a36714775" /><Relationship Type="http://schemas.openxmlformats.org/officeDocument/2006/relationships/image" Target="/ppt/media/image.svg" Id="Re9141a6284bc401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64b964a36894d35" /><Relationship Type="http://schemas.openxmlformats.org/officeDocument/2006/relationships/image" Target="/ppt/media/image2.png" Id="R327b5deb811d4a0d" /><Relationship Type="http://schemas.openxmlformats.org/officeDocument/2006/relationships/image" Target="/ppt/media/image3.png" Id="R9f8d6707d6ad47b5" /><Relationship Type="http://schemas.openxmlformats.org/officeDocument/2006/relationships/image" Target="/ppt/media/image4.png" Id="R1af04b1236f34ce4" /><Relationship Type="http://schemas.openxmlformats.org/officeDocument/2006/relationships/image" Target="/ppt/media/image.svg" Id="R5c02cda8a32440a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6012ebc0a0d4d86" /><Relationship Type="http://schemas.openxmlformats.org/officeDocument/2006/relationships/image" Target="/ppt/media/image2.png" Id="R84924303368a458f" /><Relationship Type="http://schemas.openxmlformats.org/officeDocument/2006/relationships/image" Target="/ppt/media/image3.png" Id="R1e62596d1322476a" /><Relationship Type="http://schemas.openxmlformats.org/officeDocument/2006/relationships/image" Target="/ppt/media/image4.png" Id="Rca4597eb638a424f" /><Relationship Type="http://schemas.openxmlformats.org/officeDocument/2006/relationships/image" Target="/ppt/media/image.svg" Id="Re3ec7386233b492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d821e22884d4d25" /><Relationship Type="http://schemas.openxmlformats.org/officeDocument/2006/relationships/image" Target="/ppt/media/image3.png" Id="R85e3f3b57e4244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8608F5-4718-46FE-9425-5874FAE074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BF8114-39AD-48BB-AF26-135023C22B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E97FFF6-08EC-430E-BED0-EC156A9716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C00EFD-283B-4F13-9186-4B3B21E8C1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26D3D0-4169-4F68-BD9E-1FB32A1DE7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94BF5E-F0A9-434A-83DF-A56531BEAA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002621-7C0F-4B01-A0CF-D9FF530C77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75C6859-6720-4BCD-A3A1-8CDF02530E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27DE33-B63C-44B7-A057-1847E9D468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BCB5CD-BCED-4634-84D1-EB614C95ED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50728280-5D69-4F0C-9D8B-0B8D57BCAB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377ae6cfb47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495201"/>
            <a:ext cx="12192000" cy="3362799"/>
          </a:xfrm>
          <a:prstGeom xmlns:a="http://schemas.openxmlformats.org/drawingml/2006/main" prst="rect">
            <a:avLst/>
          </a:prstGeom>
        </p:spPr>
      </p:pic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EDBC9017-FB79-4E02-BAF1-229A9F29291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1708697"/>
            <a:ext cx="10515600" cy="11935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36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标题内容</a:t>
            </a:r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509DE473-0494-4DBB-AE5A-2D48ED720DC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595687" y="4076153"/>
            <a:ext cx="5000625" cy="1073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2000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副标题内容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3BB4C37-3B49-47A1-A011-71A63A9F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1" name="图片 10">
            <a:extLst xmlns:a="http://schemas.openxmlformats.org/drawingml/2006/main">
              <a:ext uri="{FF2B5EF4-FFF2-40B4-BE49-F238E27FC236}">
                <a16:creationId xmlns:a16="http://schemas.microsoft.com/office/drawing/2014/main" id="{C4F5403E-E404-4A74-89DF-53B34DDA05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ae5196c4544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3938" y="105361"/>
            <a:ext cx="1684124" cy="36240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preserve="1" userDrawn="1">
  <p:cSld name="内容页-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D5EF7D4-97E2-41F8-A9CD-87D36947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62242424-C7A8-4968-94C2-02164297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E052DA4D-88C2-4B3F-9AEE-67930974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35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22EEC0F0-BDF3-4656-BE9B-8206FDA5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2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64B13B7C-CFF4-456A-8470-E23045BF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438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4451106-BF09-4186-B23C-4CB468E2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4884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95EB67C7-ED25-4323-B731-51558509F7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5db32292342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358" y="105361"/>
            <a:ext cx="1684124" cy="362406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A5FF9FB-7829-4FE7-BC65-D432BA46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8840" y="0"/>
            <a:ext cx="77316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6972659B-DD38-46B7-B5CC-05AB9616FD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315568e244df8">
            <a:alphaModFix amt="3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568763"/>
            <a:ext cx="12192000" cy="2289237"/>
          </a:xfrm>
          <a:prstGeom xmlns:a="http://schemas.openxmlformats.org/drawingml/2006/main" prst="rect">
            <a:avLst/>
          </a:prstGeom>
        </p:spPr>
      </p:pic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4C6B407A-49B6-41DB-9C69-2530E0DC9E5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78511" y="3036458"/>
            <a:ext cx="10834978" cy="785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lnSpc>
                <a:spcPct val="100000"/>
              </a:lnSpc>
              <a:buNone/>
              <a:defRPr sz="32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页标题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02D10F00-C50F-42AF-8904-B128EECE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38" y="124981"/>
            <a:ext cx="1628604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5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方法设计</a:t>
            </a: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8E565E31-6DBC-4F9F-8247-514EE48A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057" y="563601"/>
            <a:ext cx="1854000" cy="0"/>
          </a:xfrm>
          <a:prstGeom xmlns:a="http://schemas.openxmlformats.org/drawingml/2006/main" prst="line">
            <a:avLst/>
          </a:prstGeom>
          <a:ln xmlns:a="http://schemas.openxmlformats.org/drawingml/2006/main" w="1905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7" name="图形 46">
            <a:extLst xmlns:a="http://schemas.openxmlformats.org/drawingml/2006/main">
              <a:ext uri="{FF2B5EF4-FFF2-40B4-BE49-F238E27FC236}">
                <a16:creationId xmlns:a16="http://schemas.microsoft.com/office/drawing/2014/main" id="{0B9F5CC8-2439-4153-BB35-2B4DC01156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c8b8052d54408">
            <a:extLst>
              <a:ext uri="{96DAC541-7B7A-43D3-8B79-37D633B846F1}">
                <asvg:svgBlip xmlns:asvg="http://schemas.microsoft.com/office/drawing/2016/SVG/main" r:embed="R0ffd21a4ed054a6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43837" y="124980"/>
            <a:ext cx="323166" cy="323166"/>
          </a:xfrm>
          <a:prstGeom xmlns:a="http://schemas.openxmlformats.org/drawingml/2006/main" prst="rect">
            <a:avLst/>
          </a:prstGeom>
        </p:spPr>
      </p:pic>
      <p:sp>
        <p:nvSpPr>
          <p:cNvPr id="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3CC9DCB-C479-4EC0-BAE1-700583905E6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35394" y="6356349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8161545-35E5-4E3F-8C88-B273B37D2CD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13408" y="6352506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F4826BC-7E05-4296-9006-40E1D35D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656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原型工具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9420E0C-8217-4B74-B982-F42BC6B6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147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实验评估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22B608C-ADFE-4DD7-A829-4EDEB579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129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目标与内容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E0C59BCE-C133-47AA-9B79-2A095469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620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背景与意义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内容页-标题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6070FF8-6EEE-4ADA-A169-09437211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BEF0E6EB-1AA7-424D-94BE-4EDB426F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1CDA536B-BADD-465E-9C93-778C0AEC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35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2BC21E7B-E643-4CD5-9312-11DE1FE9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2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424210CA-FB6F-419E-9549-2072625D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438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4BC42B8-1511-45C6-BA0D-0B9ADF56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4884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BD56A4D4-3009-454E-A155-885C19D456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c5d09a84245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358" y="105361"/>
            <a:ext cx="1684124" cy="362406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7023183-E613-4466-BCD0-91036D48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8840" y="0"/>
            <a:ext cx="77316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F378A694-4DCE-4EC8-93CC-0CE7B071EC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22e0e0ec546f6">
            <a:alphaModFix amt="3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568763"/>
            <a:ext cx="12192000" cy="2289237"/>
          </a:xfrm>
          <a:prstGeom xmlns:a="http://schemas.openxmlformats.org/drawingml/2006/main" prst="rect">
            <a:avLst/>
          </a:prstGeom>
        </p:spPr>
      </p:pic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7A712E47-491C-43C8-B1B9-658F0C09799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35393" y="926637"/>
            <a:ext cx="11321214" cy="401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页标题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1FCD6DC7-137C-4972-9404-BACF49E9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134" y="124981"/>
            <a:ext cx="1843576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背景与意义</a:t>
            </a:r>
            <a:endParaRPr sz="15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F0617C39-AC13-43F1-9E80-E557DF2E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129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目标与内容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554EE952-948A-4213-B499-7433F62F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38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方法设计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1083408E-89AA-47B9-8E2C-7240D2EC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147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实验评估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79AE4744-FB78-476D-82FC-8D4C88AB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656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原型工具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9C03EDCF-B5D8-4CAD-955B-DB48D0BA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542" y="563601"/>
            <a:ext cx="1854000" cy="0"/>
          </a:xfrm>
          <a:prstGeom xmlns:a="http://schemas.openxmlformats.org/drawingml/2006/main" prst="line">
            <a:avLst/>
          </a:prstGeom>
          <a:ln xmlns:a="http://schemas.openxmlformats.org/drawingml/2006/main" w="1905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7" name="图形 46">
            <a:extLst xmlns:a="http://schemas.openxmlformats.org/drawingml/2006/main">
              <a:ext uri="{FF2B5EF4-FFF2-40B4-BE49-F238E27FC236}">
                <a16:creationId xmlns:a16="http://schemas.microsoft.com/office/drawing/2014/main" id="{D6DB52FF-95DF-44A5-9C1C-F4D808424F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945268569454c">
            <a:extLst>
              <a:ext uri="{96DAC541-7B7A-43D3-8B79-37D633B846F1}">
                <asvg:svgBlip xmlns:asvg="http://schemas.microsoft.com/office/drawing/2016/SVG/main" r:embed="R32c77a0e1b2f488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43837" y="124980"/>
            <a:ext cx="323166" cy="323166"/>
          </a:xfrm>
          <a:prstGeom xmlns:a="http://schemas.openxmlformats.org/drawingml/2006/main" prst="rect">
            <a:avLst/>
          </a:prstGeom>
        </p:spPr>
      </p:pic>
      <p:sp>
        <p:nvSpPr>
          <p:cNvPr id="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84DC0F6-F2F3-4974-87A1-9DD22D5CE07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35394" y="6356349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92BA1DB-4657-4B24-B2C4-27F9CF23ED2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13408" y="6352506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页-标题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F05ED6-D59A-4926-8E4A-0BCEE390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16F595BB-4506-47EC-9035-D347733E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B9142161-11D0-47D7-82C6-AA615E1D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35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D3E02C92-7CFE-4FB2-959B-0D40C7B4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2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0AB3790B-752E-4EE7-A6F7-661DD677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438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5A1679A-F518-40CD-9097-4F6ED828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4884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3873B1E3-EF75-44B2-A456-9A88BC1F61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e645da72b4a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358" y="105361"/>
            <a:ext cx="1684124" cy="362406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F2CCAC-FB42-412D-BE33-AB0FC8FF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8840" y="0"/>
            <a:ext cx="77316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9B1C7C7E-45B8-4739-A11F-81B6A958D4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2b253ed2d4650">
            <a:alphaModFix amt="3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568763"/>
            <a:ext cx="12192000" cy="2289237"/>
          </a:xfrm>
          <a:prstGeom xmlns:a="http://schemas.openxmlformats.org/drawingml/2006/main" prst="rect">
            <a:avLst/>
          </a:prstGeom>
        </p:spPr>
      </p:pic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0CC15EFC-916A-47E5-BD8B-45EFD38CEB1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35393" y="926637"/>
            <a:ext cx="11321214" cy="401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页标题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8994F0D1-743E-42E4-B819-B8861CF9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620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背景与意义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50E3AA7B-74A6-4265-918E-2383F4FB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643" y="124981"/>
            <a:ext cx="1843576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5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目标与内容</a:t>
            </a: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C42D16A0-83B2-47B3-9F40-0BC2E71B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196" y="563601"/>
            <a:ext cx="1854000" cy="0"/>
          </a:xfrm>
          <a:prstGeom xmlns:a="http://schemas.openxmlformats.org/drawingml/2006/main" prst="line">
            <a:avLst/>
          </a:prstGeom>
          <a:ln xmlns:a="http://schemas.openxmlformats.org/drawingml/2006/main" w="1905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7" name="图形 46">
            <a:extLst xmlns:a="http://schemas.openxmlformats.org/drawingml/2006/main">
              <a:ext uri="{FF2B5EF4-FFF2-40B4-BE49-F238E27FC236}">
                <a16:creationId xmlns:a16="http://schemas.microsoft.com/office/drawing/2014/main" id="{48E36C1D-09D2-45A4-8085-5768C8C8EA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283eda9174c7f">
            <a:extLst>
              <a:ext uri="{96DAC541-7B7A-43D3-8B79-37D633B846F1}">
                <asvg:svgBlip xmlns:asvg="http://schemas.microsoft.com/office/drawing/2016/SVG/main" r:embed="R9c992885f39b4f6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43837" y="124980"/>
            <a:ext cx="323166" cy="323166"/>
          </a:xfrm>
          <a:prstGeom xmlns:a="http://schemas.openxmlformats.org/drawingml/2006/main" prst="rect">
            <a:avLst/>
          </a:prstGeom>
        </p:spPr>
      </p:pic>
      <p:sp>
        <p:nvSpPr>
          <p:cNvPr id="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713058-70F6-486C-B720-64FA3C7D46E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35394" y="6356349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C87080-C44B-4FE9-A67C-5F25419ADE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13408" y="6352506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3A2B74C9-AFC5-4A80-B793-700EADAF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656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原型工具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6D6ED99-A3CE-498F-A355-B7088C1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147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实验评估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63063DD2-78B5-4F4F-A784-638482CD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38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方法设计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内容页-标题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6F452F2-1EED-4120-9044-E021FBD3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C347E69-0241-49DE-A86E-70C1F65E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E65EF597-3922-499D-8D67-7F7DBEF5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35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90014DC2-5A98-4BAA-84F5-33D8035D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2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9A8B8E9D-44D0-4C23-AA23-D01FB0FC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438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35B5A31-18AE-48EA-8A13-F2170E99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4884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3B87F278-14AD-4D6A-9BFE-0FD995E71E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8de8603444d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358" y="105361"/>
            <a:ext cx="1684124" cy="362406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FD828C3-F993-4DB8-976B-9DF610CB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8840" y="0"/>
            <a:ext cx="77316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A556C397-5964-4C4D-A2A9-357AA76801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add1167954dd5">
            <a:alphaModFix amt="3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568763"/>
            <a:ext cx="12192000" cy="2289237"/>
          </a:xfrm>
          <a:prstGeom xmlns:a="http://schemas.openxmlformats.org/drawingml/2006/main" prst="rect">
            <a:avLst/>
          </a:prstGeom>
        </p:spPr>
      </p:pic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768B784A-7215-4AF4-9F60-8E6165EDE35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35393" y="926637"/>
            <a:ext cx="11321214" cy="401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页标题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1CC2D482-5DF2-45C2-9C41-3080B0B7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38" y="124981"/>
            <a:ext cx="1628604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5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方法设计</a:t>
            </a: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456576CB-0052-4926-BA67-D78E4712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057" y="563601"/>
            <a:ext cx="1854000" cy="0"/>
          </a:xfrm>
          <a:prstGeom xmlns:a="http://schemas.openxmlformats.org/drawingml/2006/main" prst="line">
            <a:avLst/>
          </a:prstGeom>
          <a:ln xmlns:a="http://schemas.openxmlformats.org/drawingml/2006/main" w="1905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7" name="图形 46">
            <a:extLst xmlns:a="http://schemas.openxmlformats.org/drawingml/2006/main">
              <a:ext uri="{FF2B5EF4-FFF2-40B4-BE49-F238E27FC236}">
                <a16:creationId xmlns:a16="http://schemas.microsoft.com/office/drawing/2014/main" id="{250AE82E-776B-4B79-A9D3-F981FE8D50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f2dcae4634018">
            <a:extLst>
              <a:ext uri="{96DAC541-7B7A-43D3-8B79-37D633B846F1}">
                <asvg:svgBlip xmlns:asvg="http://schemas.microsoft.com/office/drawing/2016/SVG/main" r:embed="R2204c4a64d574c8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43837" y="124980"/>
            <a:ext cx="323166" cy="323166"/>
          </a:xfrm>
          <a:prstGeom xmlns:a="http://schemas.openxmlformats.org/drawingml/2006/main" prst="rect">
            <a:avLst/>
          </a:prstGeom>
        </p:spPr>
      </p:pic>
      <p:sp>
        <p:nvSpPr>
          <p:cNvPr id="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4BA8130-F7F1-4CDE-B070-D7A0856FA0E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35394" y="6356349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867F048-3D88-4246-98ED-472BBA16DC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13408" y="6352506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32A7FE1-DD33-41B5-A095-148053C8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656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原型工具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E3ABCCB8-C4C3-4C89-A9F3-7A627B45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147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实验评估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029E092-159D-4F09-955A-9093C40F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129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目标与内容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8D1D75A-1BEE-481A-9970-484F6E4E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620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背景与意义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内容页-标题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DA53739-4205-4016-9503-8149E04A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C12D4632-62F9-40C9-9172-8AF77804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6A0B953-5C37-47DD-A54C-7C4C79CA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35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701074A-5411-4480-BB8C-68CB2D03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2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41CD2CF6-0FCF-4C10-8F48-57FC982D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438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A310C0D-F1D6-489D-9CBB-E5639B1B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4884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E7FA1FA0-E230-4C07-A2FE-D3D53CECE8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98eb5f8db4d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358" y="105361"/>
            <a:ext cx="1684124" cy="362406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DB89C85-486A-4D08-8F47-110C6CBB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8840" y="0"/>
            <a:ext cx="77316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477F5AF2-29DE-4744-9F9C-7E5E16C5D2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4b6dceb9447c3">
            <a:alphaModFix amt="3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568763"/>
            <a:ext cx="12192000" cy="2289237"/>
          </a:xfrm>
          <a:prstGeom xmlns:a="http://schemas.openxmlformats.org/drawingml/2006/main" prst="rect">
            <a:avLst/>
          </a:prstGeom>
        </p:spPr>
      </p:pic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5026C3B0-D00F-41EA-A39E-A316FA89A33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35393" y="926637"/>
            <a:ext cx="11321214" cy="401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页标题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E5492713-C3B9-4145-A940-D502EE73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068" y="124981"/>
            <a:ext cx="1826762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5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实验评估</a:t>
            </a: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F81FCFA2-0437-4EDB-9681-01DE71AF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503" y="563601"/>
            <a:ext cx="1854000" cy="0"/>
          </a:xfrm>
          <a:prstGeom xmlns:a="http://schemas.openxmlformats.org/drawingml/2006/main" prst="line">
            <a:avLst/>
          </a:prstGeom>
          <a:ln xmlns:a="http://schemas.openxmlformats.org/drawingml/2006/main" w="1905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7" name="图形 46">
            <a:extLst xmlns:a="http://schemas.openxmlformats.org/drawingml/2006/main">
              <a:ext uri="{FF2B5EF4-FFF2-40B4-BE49-F238E27FC236}">
                <a16:creationId xmlns:a16="http://schemas.microsoft.com/office/drawing/2014/main" id="{2408DD71-4188-42E1-9ACC-4C0BA8188C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c659a36714775">
            <a:extLst>
              <a:ext uri="{96DAC541-7B7A-43D3-8B79-37D633B846F1}">
                <asvg:svgBlip xmlns:asvg="http://schemas.microsoft.com/office/drawing/2016/SVG/main" r:embed="Re9141a6284bc401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43837" y="124980"/>
            <a:ext cx="323166" cy="323166"/>
          </a:xfrm>
          <a:prstGeom xmlns:a="http://schemas.openxmlformats.org/drawingml/2006/main" prst="rect">
            <a:avLst/>
          </a:prstGeom>
        </p:spPr>
      </p:pic>
      <p:sp>
        <p:nvSpPr>
          <p:cNvPr id="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30385C8-C2B4-4790-8722-46E346A47E6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35394" y="6356349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6E5DE88-3768-4E2D-AF94-2D88F5363EB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13408" y="6352506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2815251-FEE3-4ED5-826C-A92888E1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656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原型工具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6889373-26B7-4826-BA27-15BD96FA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129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目标与内容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501DB172-B625-4895-B1AB-745C17D0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620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背景与意义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6101564-3400-4EDA-B31E-68231B57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38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方法设计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内容页-标题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15B33BB-6C78-457B-86A7-63E564CA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7358876-1540-4A7C-ACAB-93E6246E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47B95130-7E44-4ABE-85B2-68BC1636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645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AF453399-464F-4B94-B7F4-8B26C742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2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8498E6A-4B56-4962-98CE-C9989D89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438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5DA5B9-ECBB-4362-9A25-F1EB4979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4884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F166B7C5-658F-4EB6-A573-F97CBE4F59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b5deb811d4a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358" y="105361"/>
            <a:ext cx="1684124" cy="362406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08082DE-A065-49FA-A9A5-A67B97CE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8840" y="0"/>
            <a:ext cx="77316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A48C17CE-0430-422B-8D23-8B17A1B6FF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d6707d6ad47b5">
            <a:alphaModFix amt="3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568763"/>
            <a:ext cx="12192000" cy="2289237"/>
          </a:xfrm>
          <a:prstGeom xmlns:a="http://schemas.openxmlformats.org/drawingml/2006/main" prst="rect">
            <a:avLst/>
          </a:prstGeom>
        </p:spPr>
      </p:pic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E6490969-D09B-4A78-A00B-5EB3104D92D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35393" y="926637"/>
            <a:ext cx="11321214" cy="401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页标题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1E5CD300-FCE0-47BF-A0D5-046A42F2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656" y="124981"/>
            <a:ext cx="1628604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5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原型工具</a:t>
            </a: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5F278C3C-E54D-4365-8BAA-0511A5A8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773" y="563601"/>
            <a:ext cx="1854000" cy="0"/>
          </a:xfrm>
          <a:prstGeom xmlns:a="http://schemas.openxmlformats.org/drawingml/2006/main" prst="line">
            <a:avLst/>
          </a:prstGeom>
          <a:ln xmlns:a="http://schemas.openxmlformats.org/drawingml/2006/main" w="1905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7" name="图形 46">
            <a:extLst xmlns:a="http://schemas.openxmlformats.org/drawingml/2006/main">
              <a:ext uri="{FF2B5EF4-FFF2-40B4-BE49-F238E27FC236}">
                <a16:creationId xmlns:a16="http://schemas.microsoft.com/office/drawing/2014/main" id="{A291FD3E-2BF3-45C7-AC9D-BB5C0EEBE3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04b1236f34ce4">
            <a:extLst>
              <a:ext uri="{96DAC541-7B7A-43D3-8B79-37D633B846F1}">
                <asvg:svgBlip xmlns:asvg="http://schemas.microsoft.com/office/drawing/2016/SVG/main" r:embed="R5c02cda8a32440a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43837" y="124980"/>
            <a:ext cx="323166" cy="323166"/>
          </a:xfrm>
          <a:prstGeom xmlns:a="http://schemas.openxmlformats.org/drawingml/2006/main" prst="rect">
            <a:avLst/>
          </a:prstGeom>
        </p:spPr>
      </p:pic>
      <p:sp>
        <p:nvSpPr>
          <p:cNvPr id="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DA077DE-7AEA-4DB0-9FD7-C307A2BC503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35394" y="6356349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7E307DC-2D4F-48D1-B277-F4CC29BF234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13408" y="6352506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A4753E8-7D25-4A3D-A6EE-91821E18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147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实验评估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C02836D-8718-4B0F-8125-EC71F2D5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129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目标与内容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009521D-D1DC-4DF3-AFC3-585EEBCC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620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背景与意义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BA94BC0F-5663-4B21-8560-D78378DB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38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方法设计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内容页-总结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1E8209FE-DB97-4E1C-BAFF-21D5A447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0"/>
            <a:ext cx="9267805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5EB90BF-0441-40EA-9F84-F580E9F4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4884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94F60AE2-E324-41CC-883A-3DF98A1FDD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24303368a45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358" y="105361"/>
            <a:ext cx="1684124" cy="362406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798BE03-ACE6-4642-921B-AA145180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8840" y="0"/>
            <a:ext cx="77316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C7D79449-68C7-40AB-9625-E8D286C591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2596d1322476a">
            <a:alphaModFix amt="3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568763"/>
            <a:ext cx="12192000" cy="2289237"/>
          </a:xfrm>
          <a:prstGeom xmlns:a="http://schemas.openxmlformats.org/drawingml/2006/main" prst="rect">
            <a:avLst/>
          </a:prstGeom>
        </p:spPr>
      </p:pic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78C92078-9F3D-4897-81DE-D0343304FBA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35393" y="926637"/>
            <a:ext cx="11321214" cy="401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页标题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6C18E5C4-EA10-4A0F-99DF-CA86D613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219" y="124981"/>
            <a:ext cx="9064041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5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总结与展望</a:t>
            </a: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3A3B9176-1405-4EE3-8D1C-F88880E7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563601"/>
            <a:ext cx="9269933" cy="0"/>
          </a:xfrm>
          <a:prstGeom xmlns:a="http://schemas.openxmlformats.org/drawingml/2006/main" prst="line">
            <a:avLst/>
          </a:prstGeom>
          <a:ln xmlns:a="http://schemas.openxmlformats.org/drawingml/2006/main" w="1905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7" name="图形 46">
            <a:extLst xmlns:a="http://schemas.openxmlformats.org/drawingml/2006/main">
              <a:ext uri="{FF2B5EF4-FFF2-40B4-BE49-F238E27FC236}">
                <a16:creationId xmlns:a16="http://schemas.microsoft.com/office/drawing/2014/main" id="{0AE048FF-3B99-432E-96A9-2E506412FA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597eb638a424f">
            <a:extLst>
              <a:ext uri="{96DAC541-7B7A-43D3-8B79-37D633B846F1}">
                <asvg:svgBlip xmlns:asvg="http://schemas.microsoft.com/office/drawing/2016/SVG/main" r:embed="Re3ec7386233b492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43837" y="124980"/>
            <a:ext cx="323166" cy="323166"/>
          </a:xfrm>
          <a:prstGeom xmlns:a="http://schemas.openxmlformats.org/drawingml/2006/main" prst="rect">
            <a:avLst/>
          </a:prstGeom>
        </p:spPr>
      </p:pic>
      <p:sp>
        <p:nvSpPr>
          <p:cNvPr id="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02FA2AC-012E-42A1-A6CD-BC35CC0750E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35394" y="6356349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0E5B4FE-3F30-4FEB-80CD-99287D207A3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13408" y="6352506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空白版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181E75A8-9F8C-43C7-9C58-E7F9ED99D0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3f3b57e4244ef">
            <a:alphaModFix amt="3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568763"/>
            <a:ext cx="12192000" cy="2289237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25795a95c548ec" /><Relationship Type="http://schemas.openxmlformats.org/officeDocument/2006/relationships/slideLayout" Target="/ppt/slideLayouts/slideLayout1.xml" Id="R63bd404f28dc4365" /><Relationship Type="http://schemas.openxmlformats.org/officeDocument/2006/relationships/slideLayout" Target="/ppt/slideLayouts/slideLayout2.xml" Id="R86f6d3d722dc4305" /><Relationship Type="http://schemas.openxmlformats.org/officeDocument/2006/relationships/slideLayout" Target="/ppt/slideLayouts/slideLayout3.xml" Id="R12af48b1b0c742b3" /><Relationship Type="http://schemas.openxmlformats.org/officeDocument/2006/relationships/slideLayout" Target="/ppt/slideLayouts/slideLayout4.xml" Id="R8ddaf72f03a54ff0" /><Relationship Type="http://schemas.openxmlformats.org/officeDocument/2006/relationships/slideLayout" Target="/ppt/slideLayouts/slideLayout5.xml" Id="Re43bfc0b1fab45f2" /><Relationship Type="http://schemas.openxmlformats.org/officeDocument/2006/relationships/slideLayout" Target="/ppt/slideLayouts/slideLayout6.xml" Id="Rb7924879c2c2406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0995a240b5842bf" /><Relationship Type="http://schemas.openxmlformats.org/officeDocument/2006/relationships/slideLayout" Target="/ppt/slideLayouts/slideLayout7.xml" Id="R687bd498f25e4c62" /><Relationship Type="http://schemas.openxmlformats.org/officeDocument/2006/relationships/slideLayout" Target="/ppt/slideLayouts/slideLayout8.xml" Id="R8980a52aa4684f9f" /><Relationship Type="http://schemas.openxmlformats.org/officeDocument/2006/relationships/slideLayout" Target="/ppt/slideLayouts/slideLayout9.xml" Id="R4a1deb94bf4d49eb" /><Relationship Type="http://schemas.openxmlformats.org/officeDocument/2006/relationships/slideLayout" Target="/ppt/slideLayouts/slideLayout10.xml" Id="R78ce2255f83f49e9" /><Relationship Type="http://schemas.openxmlformats.org/officeDocument/2006/relationships/slideLayout" Target="/ppt/slideLayouts/slideLayout11.xml" Id="R3e37c2d1e94d478c" /><Relationship Type="http://schemas.openxmlformats.org/officeDocument/2006/relationships/slideLayout" Target="/ppt/slideLayouts/slideLayout12.xml" Id="R851a3e53fcfa476e" /><Relationship Type="http://schemas.openxmlformats.org/officeDocument/2006/relationships/slideLayout" Target="/ppt/slideLayouts/slideLayout13.xml" Id="R2790a15a75474331" /><Relationship Type="http://schemas.openxmlformats.org/officeDocument/2006/relationships/slideLayout" Target="/ppt/slideLayouts/slideLayout14.xml" Id="R39aa0b0e74eb4977" /><Relationship Type="http://schemas.openxmlformats.org/officeDocument/2006/relationships/slideLayout" Target="/ppt/slideLayouts/slideLayout15.xml" Id="R873f29d7005f40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bd404f28dc4365"/>
    <p:sldLayoutId xmlns:r="http://schemas.openxmlformats.org/officeDocument/2006/relationships" id="2147483650" r:id="R86f6d3d722dc4305"/>
    <p:sldLayoutId xmlns:r="http://schemas.openxmlformats.org/officeDocument/2006/relationships" id="2147483651" r:id="R12af48b1b0c742b3"/>
    <p:sldLayoutId xmlns:r="http://schemas.openxmlformats.org/officeDocument/2006/relationships" id="2147483652" r:id="R8ddaf72f03a54ff0"/>
    <p:sldLayoutId xmlns:r="http://schemas.openxmlformats.org/officeDocument/2006/relationships" id="2147483653" r:id="Re43bfc0b1fab45f2"/>
    <p:sldLayoutId xmlns:r="http://schemas.openxmlformats.org/officeDocument/2006/relationships" id="2147483654" r:id="Rb7924879c2c240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687bd498f25e4c62"/>
    <p:sldLayoutId xmlns:r="http://schemas.openxmlformats.org/officeDocument/2006/relationships" id="2147483657" r:id="R8980a52aa4684f9f"/>
    <p:sldLayoutId xmlns:r="http://schemas.openxmlformats.org/officeDocument/2006/relationships" id="2147483658" r:id="R4a1deb94bf4d49eb"/>
    <p:sldLayoutId xmlns:r="http://schemas.openxmlformats.org/officeDocument/2006/relationships" id="2147483659" r:id="R78ce2255f83f49e9"/>
    <p:sldLayoutId xmlns:r="http://schemas.openxmlformats.org/officeDocument/2006/relationships" id="2147483660" r:id="R3e37c2d1e94d478c"/>
    <p:sldLayoutId xmlns:r="http://schemas.openxmlformats.org/officeDocument/2006/relationships" id="2147483661" r:id="R851a3e53fcfa476e"/>
    <p:sldLayoutId xmlns:r="http://schemas.openxmlformats.org/officeDocument/2006/relationships" id="2147483662" r:id="R2790a15a75474331"/>
    <p:sldLayoutId xmlns:r="http://schemas.openxmlformats.org/officeDocument/2006/relationships" id="2147483663" r:id="R39aa0b0e74eb4977"/>
    <p:sldLayoutId xmlns:r="http://schemas.openxmlformats.org/officeDocument/2006/relationships" id="2147483664" r:id="R873f29d7005f408b"/>
  </p:sldLayoutIdLst>
  <p:hf hdr="0" ftr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默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b8dbde98f34ee9" /><Relationship Type="http://schemas.openxmlformats.org/officeDocument/2006/relationships/notesSlide" Target="/ppt/notesSlides/notesSlide1.xml" Id="Rcf6f0e00c43145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397df04274bb4578" /><Relationship Type="http://schemas.openxmlformats.org/officeDocument/2006/relationships/notesSlide" Target="/ppt/notesSlides/notesSlide2.xml" Id="Rd3af6b61918e4f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625c96ba8424d1d" /><Relationship Type="http://schemas.openxmlformats.org/officeDocument/2006/relationships/notesSlide" Target="/ppt/notesSlides/notesSlide3.xml" Id="Ra122d04587044c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6a60850e5804a7f" /><Relationship Type="http://schemas.openxmlformats.org/officeDocument/2006/relationships/notesSlide" Target="/ppt/notesSlides/notesSlide4.xml" Id="R068273b3aa2944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0a24d44e9b44b7d" /><Relationship Type="http://schemas.openxmlformats.org/officeDocument/2006/relationships/notesSlide" Target="/ppt/notesSlides/notesSlide5.xml" Id="R8271f07a33ba46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abbdd97858e44d50" /><Relationship Type="http://schemas.openxmlformats.org/officeDocument/2006/relationships/notesSlide" Target="/ppt/notesSlides/notesSlide6.xml" Id="R5b3858def86045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cb1cd67a7b04bf4" /><Relationship Type="http://schemas.openxmlformats.org/officeDocument/2006/relationships/notesSlide" Target="/ppt/notesSlides/notesSlide7.xml" Id="Red627c58be2049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22871d6c19d418d" /><Relationship Type="http://schemas.openxmlformats.org/officeDocument/2006/relationships/notesSlide" Target="/ppt/notesSlides/notesSlide8.xml" Id="Rb32af481eccc40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bce2e5321b74d2d" /><Relationship Type="http://schemas.openxmlformats.org/officeDocument/2006/relationships/notesSlide" Target="/ppt/notesSlides/notesSlide9.xml" Id="Rd5f64b188e6348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1ecf64f430647dc" /><Relationship Type="http://schemas.openxmlformats.org/officeDocument/2006/relationships/notesSlide" Target="/ppt/notesSlides/notesSlide10.xml" Id="R87caa0b468a54bd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5">
            <a:extLst xmlns:a="http://schemas.openxmlformats.org/drawingml/2006/main">
              <a:ext uri="{FF2B5EF4-FFF2-40B4-BE49-F238E27FC236}">
                <a16:creationId xmlns:a16="http://schemas.microsoft.com/office/drawing/2014/main" id="{EDBC9017-FB79-4E02-BAF1-229A9F29291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1685925"/>
            <a:ext cx="105156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36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buNone/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面向仓库级程序修复的</a:t>
            </a:r>
          </a:p>
          <a:p xmlns:a="http://schemas.openxmlformats.org/drawingml/2006/main">
            <a:pPr algn="ctr">
              <a:buNone/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自适应混合架构</a:t>
            </a:r>
          </a:p>
        </p:txBody>
      </p:sp>
      <p:sp>
        <p:nvSpPr>
          <p:cNvPr id="2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509DE473-0494-4DBB-AE5A-2D48ED720DC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2571750" y="4048125"/>
            <a:ext cx="7048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marL="0" indent="0" algn="ctr">
              <a:buNone/>
              <a:defRPr sz="20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buNone/>
              <a:defRPr sz="19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buNone/>
              <a:defRPr sz="19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buNone/>
              <a:defRPr sz="19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buNone/>
              <a:defRPr sz="19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buNone/>
              <a:defRPr sz="19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buNone/>
              <a:defRPr sz="19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buNone/>
              <a:defRPr sz="19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buNone/>
              <a:defRPr sz="19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lvl="0" algn="ctr">
              <a:buNone/>
              <a:defRPr sz="19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边界修复与小范围 dev 准备</a:t>
            </a:r>
          </a:p>
          <a:p xmlns:a="http://schemas.openxmlformats.org/drawingml/2006/main">
            <a:pPr lvl="0" algn="ctr">
              <a:buNone/>
              <a:defRPr sz="19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汇报人：陈堉锋　张曹远臻</a:t>
            </a:r>
          </a:p>
          <a:p xmlns:a="http://schemas.openxmlformats.org/drawingml/2006/main">
            <a:pPr lvl="0" algn="ctr">
              <a:buNone/>
              <a:defRPr sz="19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2026 年 10 月 30 日</a:t>
            </a:r>
          </a:p>
        </p:txBody>
      </p:sp>
    </p:spTree>
    <p:extLst>
      <p:ext uri="{BB962C8B-B14F-4D97-AF65-F5344CB8AC3E}">
        <p14:creationId xmlns:p14="http://schemas.microsoft.com/office/powerpoint/2010/main" val="17243493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标题 4">
            <a:extLst xmlns:a="http://schemas.openxmlformats.org/drawingml/2006/main">
              <a:ext uri="{FF2B5EF4-FFF2-40B4-BE49-F238E27FC236}">
                <a16:creationId xmlns:a16="http://schemas.microsoft.com/office/drawing/2014/main" id="{0CC15EFC-916A-47E5-BD8B-45EFD38CEB1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3875" y="971550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本轮工作与当前阶段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B73D2A-270F-4992-B8FA-86560EB3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02 / 10</a:t>
            </a:r>
          </a:p>
        </p:txBody>
      </p:sp>
      <p:sp>
        <p:nvSpPr>
          <p:cNvPr id="3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A3051DAB-C641-4056-A6B2-D935907E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失败证据能否帮助选择更合适的修复模式？</a:t>
            </a:r>
          </a:p>
        </p:txBody>
      </p:sp>
      <p:sp>
        <p:nvSpPr>
          <p:cNvPr id="4" name="comparison-condition">
            <a:extLst xmlns:a="http://schemas.openxmlformats.org/drawingml/2006/main">
              <a:ext uri="{FF2B5EF4-FFF2-40B4-BE49-F238E27FC236}">
                <a16:creationId xmlns:a16="http://schemas.microsoft.com/office/drawing/2014/main" id="{579A00E1-FC93-4F8B-916A-873F7C16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同模型、同初始信息、同资源上限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A 固定　B 纯交互　C 级联　D 自适应　E 随机</a:t>
            </a:r>
          </a:p>
        </p:txBody>
      </p:sp>
      <p:sp>
        <p:nvSpPr>
          <p:cNvPr id="5" name="label-337">
            <a:extLst xmlns:a="http://schemas.openxmlformats.org/drawingml/2006/main">
              <a:ext uri="{FF2B5EF4-FFF2-40B4-BE49-F238E27FC236}">
                <a16:creationId xmlns:a16="http://schemas.microsoft.com/office/drawing/2014/main" id="{ABBA9A35-2964-41B5-BA59-85C039B6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本轮已完成</a:t>
            </a:r>
          </a:p>
        </p:txBody>
      </p:sp>
      <p:sp>
        <p:nvSpPr>
          <p:cNvPr id="6" name="detail-337">
            <a:extLst xmlns:a="http://schemas.openxmlformats.org/drawingml/2006/main">
              <a:ext uri="{FF2B5EF4-FFF2-40B4-BE49-F238E27FC236}">
                <a16:creationId xmlns:a16="http://schemas.microsoft.com/office/drawing/2014/main" id="{7B8232B6-5D0F-4BE8-9648-1B561DF0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源码边界修复、离线回归、原始证据保护与 dev 集成计划</a:t>
            </a:r>
          </a:p>
        </p:txBody>
      </p:sp>
      <p:sp>
        <p:nvSpPr>
          <p:cNvPr id="7" name="label-470">
            <a:extLst xmlns:a="http://schemas.openxmlformats.org/drawingml/2006/main">
              <a:ext uri="{FF2B5EF4-FFF2-40B4-BE49-F238E27FC236}">
                <a16:creationId xmlns:a16="http://schemas.microsoft.com/office/drawing/2014/main" id="{87B53CFE-9B26-49DC-8B20-A6E1D0F0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后续待验证</a:t>
            </a:r>
          </a:p>
        </p:txBody>
      </p:sp>
      <p:sp>
        <p:nvSpPr>
          <p:cNvPr id="8" name="detail-470">
            <a:extLst xmlns:a="http://schemas.openxmlformats.org/drawingml/2006/main">
              <a:ext uri="{FF2B5EF4-FFF2-40B4-BE49-F238E27FC236}">
                <a16:creationId xmlns:a16="http://schemas.microsoft.com/office/drawing/2014/main" id="{6626FC82-0B52-476C-B8E9-3FBDFF44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真实模型与容器集成、完整 dev 校准、正式重复及消融</a:t>
            </a:r>
          </a:p>
        </p:txBody>
      </p:sp>
      <p:sp>
        <p:nvSpPr>
          <p:cNvPr id="9" name="negative-result">
            <a:extLst xmlns:a="http://schemas.openxmlformats.org/drawingml/2006/main">
              <a:ext uri="{FF2B5EF4-FFF2-40B4-BE49-F238E27FC236}">
                <a16:creationId xmlns:a16="http://schemas.microsoft.com/office/drawing/2014/main" id="{8B37082A-AB46-4DB8-B81C-DBDE9638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当前完成工程与离线验收，方法收益仍需受控实验检验</a:t>
            </a:r>
          </a:p>
        </p:txBody>
      </p:sp>
    </p:spTree>
    <p:extLst>
      <p:ext uri="{BB962C8B-B14F-4D97-AF65-F5344CB8AC3E}">
        <p14:creationId xmlns:p14="http://schemas.microsoft.com/office/powerpoint/2010/main" val="1797450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768B784A-7215-4AF4-9F60-8E6165EDE35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3875" y="971550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本地更改覆盖路由、执行与评测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6DD97C5-BBCF-4D0F-9A15-1685F69C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03 / 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34A77-D8EB-4E14-8DBE-C92F3D3EB20B}"/>
              </a:ext>
            </a:extLst>
          </p:cNvPr>
          <p:cNvGraphicFramePr/>
          <p:nvPr/>
        </p:nvGraphicFramePr>
        <p:xfrm>
          <a:off xmlns:a="http://schemas.openxmlformats.org/drawingml/2006/main" x="571500" y="177165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24000"/>
                <a:gridCol w="4762500"/>
                <a:gridCol w="4762500"/>
              </a:tblGrid>
              <a:tr h="552450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T w="9525">
                      <a:solidFill>
                        <a:srgbClr val="D0D6DF"/>
                      </a:solidFill>
                      <a:prstDash val="solid"/>
                    </a:lnT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复核发现的问题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T w="9525">
                      <a:solidFill>
                        <a:srgbClr val="D0D6DF"/>
                      </a:solidFill>
                      <a:prstDash val="solid"/>
                    </a:lnT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本轮修复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T w="9525">
                      <a:solidFill>
                        <a:srgbClr val="D0D6DF"/>
                      </a:solidFill>
                      <a:prstDash val="solid"/>
                    </a:lnT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695325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2F559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外部帧、测试帧误触发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统一源码归属与测试识别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95325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2F559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共享容器，固定仅单轮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新容器隔离，多轮固定延续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2F559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重试、收尾与终止状态不一致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按实际请求限额，区分终止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95325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2F559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标签缺关联，E 分母随缺失改变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绑定预测，保留完整 eligible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why-it-matters">
            <a:extLst xmlns:a="http://schemas.openxmlformats.org/drawingml/2006/main">
              <a:ext uri="{FF2B5EF4-FFF2-40B4-BE49-F238E27FC236}">
                <a16:creationId xmlns:a16="http://schemas.microsoft.com/office/drawing/2014/main" id="{F1EB72B0-DA9A-482F-A5A4-2A598FA6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修复围绕实验可比性展开，新增回归全部采用离线执行</a:t>
            </a:r>
          </a:p>
        </p:txBody>
      </p:sp>
    </p:spTree>
    <p:extLst>
      <p:ext uri="{BB962C8B-B14F-4D97-AF65-F5344CB8AC3E}">
        <p14:creationId xmlns:p14="http://schemas.microsoft.com/office/powerpoint/2010/main" val="14527670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标题 4">
            <a:extLst xmlns:a="http://schemas.openxmlformats.org/drawingml/2006/main">
              <a:ext uri="{FF2B5EF4-FFF2-40B4-BE49-F238E27FC236}">
                <a16:creationId xmlns:a16="http://schemas.microsoft.com/office/drawing/2014/main" id="{768B784A-7215-4AF4-9F60-8E6165EDE35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3875" y="971550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共享前缀与分支环境隔离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D63E09-F4C5-484C-B3FE-F0E03D9B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04 / 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523B8-B63C-4552-BFD1-1DCC15ED8625}"/>
              </a:ext>
            </a:extLst>
          </p:cNvPr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1049000" cy="3381375"/>
        </p:xfrm>
        <a:graphic xmlns:a="http://schemas.openxmlformats.org/drawingml/2006/main"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24000"/>
                <a:gridCol w="4762500"/>
                <a:gridCol w="4762500"/>
              </a:tblGrid>
              <a:tr h="561975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比较项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T w="9525">
                      <a:solidFill>
                        <a:srgbClr val="D0D6DF"/>
                      </a:solidFill>
                      <a:prstDash val="solid"/>
                    </a:lnT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正式运行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T w="9525">
                      <a:solidFill>
                        <a:srgbClr val="D0D6DF"/>
                      </a:solidFill>
                      <a:prstDash val="solid"/>
                    </a:lnT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配对诊断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T w="9525">
                      <a:solidFill>
                        <a:srgbClr val="D0D6DF"/>
                      </a:solidFill>
                      <a:prstDash val="solid"/>
                    </a:lnT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704850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2F559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执行对象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只执行所选延续分支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eligible 失败运行两条延续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704850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2F559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共同起点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A/C/D/E 复用同一实际前缀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分别恢复同一序列化快照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2F559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环境核对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 image ID 与 base commit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每条延续新建独立容器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704850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2F559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资源口径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完整计入继承的前缀开销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各自获得相同剩余预算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ranch-boundary">
            <a:extLst xmlns:a="http://schemas.openxmlformats.org/drawingml/2006/main">
              <a:ext uri="{FF2B5EF4-FFF2-40B4-BE49-F238E27FC236}">
                <a16:creationId xmlns:a16="http://schemas.microsoft.com/office/drawing/2014/main" id="{E78E4A47-7E4F-4976-83C0-E4AB51CC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新容器隔离文件与进程，清理异常保留费用及审计记录</a:t>
            </a:r>
          </a:p>
        </p:txBody>
      </p:sp>
      <p:sp>
        <p:nvSpPr>
          <p:cNvPr id="5" name="cost-boundary">
            <a:extLst xmlns:a="http://schemas.openxmlformats.org/drawingml/2006/main">
              <a:ext uri="{FF2B5EF4-FFF2-40B4-BE49-F238E27FC236}">
                <a16:creationId xmlns:a16="http://schemas.microsoft.com/office/drawing/2014/main" id="{AF196E4F-E3DF-419E-A147-D833A72E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双分支采集成本单列，固定分支的新候选不进入交互输入</a:t>
            </a:r>
          </a:p>
        </p:txBody>
      </p:sp>
    </p:spTree>
    <p:extLst>
      <p:ext uri="{BB962C8B-B14F-4D97-AF65-F5344CB8AC3E}">
        <p14:creationId xmlns:p14="http://schemas.microsoft.com/office/powerpoint/2010/main" val="1553335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标题 4">
            <a:extLst xmlns:a="http://schemas.openxmlformats.org/drawingml/2006/main">
              <a:ext uri="{FF2B5EF4-FFF2-40B4-BE49-F238E27FC236}">
                <a16:creationId xmlns:a16="http://schemas.microsoft.com/office/drawing/2014/main" id="{768B784A-7215-4AF4-9F60-8E6165EDE35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3875" y="971550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路由证据与环境恢复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6F2D9BE-741A-414E-B9C7-A9BFF4DA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05 / 10</a:t>
            </a:r>
          </a:p>
        </p:txBody>
      </p:sp>
      <p:sp>
        <p:nvSpPr>
          <p:cNvPr id="3" name="route-label-0">
            <a:extLst xmlns:a="http://schemas.openxmlformats.org/drawingml/2006/main">
              <a:ext uri="{FF2B5EF4-FFF2-40B4-BE49-F238E27FC236}">
                <a16:creationId xmlns:a16="http://schemas.microsoft.com/office/drawing/2014/main" id="{AAD6D32B-27DC-4E68-B421-D9B1C51F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源码证据</a:t>
            </a:r>
          </a:p>
        </p:txBody>
      </p:sp>
      <p:sp>
        <p:nvSpPr>
          <p:cNvPr id="4" name="route-body-0">
            <a:extLst xmlns:a="http://schemas.openxmlformats.org/drawingml/2006/main">
              <a:ext uri="{FF2B5EF4-FFF2-40B4-BE49-F238E27FC236}">
                <a16:creationId xmlns:a16="http://schemas.microsoft.com/office/drawing/2014/main" id="{00F6F6D5-A5B7-494A-A331-9B78AB6D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478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确认 repo_root 归属，外部依赖帧保留审计但不触发</a:t>
            </a:r>
          </a:p>
        </p:txBody>
      </p:sp>
      <p:sp>
        <p:nvSpPr>
          <p:cNvPr id="5" name="route-label-1">
            <a:extLst xmlns:a="http://schemas.openxmlformats.org/drawingml/2006/main">
              <a:ext uri="{FF2B5EF4-FFF2-40B4-BE49-F238E27FC236}">
                <a16:creationId xmlns:a16="http://schemas.microsoft.com/office/drawing/2014/main" id="{EE188E3D-D07B-46AA-90F2-50C8D912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71775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测试路径</a:t>
            </a:r>
          </a:p>
        </p:txBody>
      </p:sp>
      <p:sp>
        <p:nvSpPr>
          <p:cNvPr id="6" name="route-body-1">
            <a:extLst xmlns:a="http://schemas.openxmlformats.org/drawingml/2006/main">
              <a:ext uri="{FF2B5EF4-FFF2-40B4-BE49-F238E27FC236}">
                <a16:creationId xmlns:a16="http://schemas.microsoft.com/office/drawing/2014/main" id="{395B473C-EB78-417F-82FD-281363F5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003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统一排除 test/tests 目录、test_*.py 与 *_test.py</a:t>
            </a:r>
          </a:p>
        </p:txBody>
      </p:sp>
      <p:sp>
        <p:nvSpPr>
          <p:cNvPr id="7" name="route-label-2">
            <a:extLst xmlns:a="http://schemas.openxmlformats.org/drawingml/2006/main">
              <a:ext uri="{FF2B5EF4-FFF2-40B4-BE49-F238E27FC236}">
                <a16:creationId xmlns:a16="http://schemas.microsoft.com/office/drawing/2014/main" id="{E5327494-D3D4-499F-9BA9-5EE5ED11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24275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默认选择</a:t>
            </a:r>
          </a:p>
        </p:txBody>
      </p:sp>
      <p:sp>
        <p:nvSpPr>
          <p:cNvPr id="8" name="route-body-2">
            <a:extLst xmlns:a="http://schemas.openxmlformats.org/drawingml/2006/main">
              <a:ext uri="{FF2B5EF4-FFF2-40B4-BE49-F238E27FC236}">
                <a16:creationId xmlns:a16="http://schemas.microsoft.com/office/drawing/2014/main" id="{221E7EA6-FE13-488D-9F4C-168DA7AA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528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证据不足或仍可局部修正时，保守固定延续</a:t>
            </a:r>
          </a:p>
        </p:txBody>
      </p:sp>
      <p:sp>
        <p:nvSpPr>
          <p:cNvPr id="9" name="route-label-3">
            <a:extLst xmlns:a="http://schemas.openxmlformats.org/drawingml/2006/main">
              <a:ext uri="{FF2B5EF4-FFF2-40B4-BE49-F238E27FC236}">
                <a16:creationId xmlns:a16="http://schemas.microsoft.com/office/drawing/2014/main" id="{F25109EE-8D63-45EC-BDA7-893DA645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环境恢复</a:t>
            </a:r>
          </a:p>
        </p:txBody>
      </p:sp>
      <p:sp>
        <p:nvSpPr>
          <p:cNvPr id="10" name="route-body-3">
            <a:extLst xmlns:a="http://schemas.openxmlformats.org/drawingml/2006/main">
              <a:ext uri="{FF2B5EF4-FFF2-40B4-BE49-F238E27FC236}">
                <a16:creationId xmlns:a16="http://schemas.microsoft.com/office/drawing/2014/main" id="{3CC7B981-AE4B-4D0F-BD91-D758877C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053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绑定原失败候选，同一公开命令可运行才清除故障</a:t>
            </a:r>
          </a:p>
        </p:txBody>
      </p:sp>
      <p:sp>
        <p:nvSpPr>
          <p:cNvPr id="11" name="candidate-disclosure">
            <a:extLst xmlns:a="http://schemas.openxmlformats.org/drawingml/2006/main">
              <a:ext uri="{FF2B5EF4-FFF2-40B4-BE49-F238E27FC236}">
                <a16:creationId xmlns:a16="http://schemas.microsoft.com/office/drawing/2014/main" id="{2168F7F5-B2BE-4AE1-980A-B46E5E91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环境恢复最多一次，失败后停止。最终结果仍由独立评测判断</a:t>
            </a:r>
          </a:p>
        </p:txBody>
      </p:sp>
    </p:spTree>
    <p:extLst>
      <p:ext uri="{BB962C8B-B14F-4D97-AF65-F5344CB8AC3E}">
        <p14:creationId xmlns:p14="http://schemas.microsoft.com/office/powerpoint/2010/main" val="19795682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标题 4">
            <a:extLst xmlns:a="http://schemas.openxmlformats.org/drawingml/2006/main">
              <a:ext uri="{FF2B5EF4-FFF2-40B4-BE49-F238E27FC236}">
                <a16:creationId xmlns:a16="http://schemas.microsoft.com/office/drawing/2014/main" id="{E6490969-D09B-4A78-A00B-5EB3104D92D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3875" y="971550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固定延续与交互预算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44B412E-4ACA-46CC-BED8-05260725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06 / 10</a:t>
            </a:r>
          </a:p>
        </p:txBody>
      </p:sp>
      <p:sp>
        <p:nvSpPr>
          <p:cNvPr id="3" name="budget-dimensions">
            <a:extLst xmlns:a="http://schemas.openxmlformats.org/drawingml/2006/main">
              <a:ext uri="{FF2B5EF4-FFF2-40B4-BE49-F238E27FC236}">
                <a16:creationId xmlns:a16="http://schemas.microsoft.com/office/drawing/2014/main" id="{AE2E137B-3DD0-4B1D-A036-4BE28DB6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固定最多 6 轮候选生成，交互最多 6 次请求</a:t>
            </a:r>
          </a:p>
        </p:txBody>
      </p:sp>
      <p:sp>
        <p:nvSpPr>
          <p:cNvPr id="4" name="budget-label-0">
            <a:extLst xmlns:a="http://schemas.openxmlformats.org/drawingml/2006/main">
              <a:ext uri="{FF2B5EF4-FFF2-40B4-BE49-F238E27FC236}">
                <a16:creationId xmlns:a16="http://schemas.microsoft.com/office/drawing/2014/main" id="{3D14A5D8-F5A9-431C-B961-69B39C4C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7177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固定生成</a:t>
            </a:r>
          </a:p>
        </p:txBody>
      </p:sp>
      <p:sp>
        <p:nvSpPr>
          <p:cNvPr id="5" name="budget-body-0">
            <a:extLst xmlns:a="http://schemas.openxmlformats.org/drawingml/2006/main">
              <a:ext uri="{FF2B5EF4-FFF2-40B4-BE49-F238E27FC236}">
                <a16:creationId xmlns:a16="http://schemas.microsoft.com/office/drawing/2014/main" id="{0B8C2ED8-74C6-4B1E-B2BB-703CD6A9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90825"/>
            <a:ext cx="847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保持前缀上下文，接收结构化反馈，保留已有有效候选</a:t>
            </a:r>
          </a:p>
        </p:txBody>
      </p:sp>
      <p:sp>
        <p:nvSpPr>
          <p:cNvPr id="6" name="budget-label-1">
            <a:extLst xmlns:a="http://schemas.openxmlformats.org/drawingml/2006/main">
              <a:ext uri="{FF2B5EF4-FFF2-40B4-BE49-F238E27FC236}">
                <a16:creationId xmlns:a16="http://schemas.microsoft.com/office/drawing/2014/main" id="{7CD4A7B5-069D-4982-87C5-35F5F547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交互控制</a:t>
            </a:r>
          </a:p>
        </p:txBody>
      </p:sp>
      <p:sp>
        <p:nvSpPr>
          <p:cNvPr id="7" name="budget-body-1">
            <a:extLst xmlns:a="http://schemas.openxmlformats.org/drawingml/2006/main">
              <a:ext uri="{FF2B5EF4-FFF2-40B4-BE49-F238E27FC236}">
                <a16:creationId xmlns:a16="http://schemas.microsoft.com/office/drawing/2014/main" id="{8CE39447-B7EA-48DB-812F-4EC14E3B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24275"/>
            <a:ext cx="847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校验状态与参数，重试计数，在原限额内预留收尾</a:t>
            </a:r>
          </a:p>
        </p:txBody>
      </p:sp>
      <p:sp>
        <p:nvSpPr>
          <p:cNvPr id="8" name="budget-label-2">
            <a:extLst xmlns:a="http://schemas.openxmlformats.org/drawingml/2006/main">
              <a:ext uri="{FF2B5EF4-FFF2-40B4-BE49-F238E27FC236}">
                <a16:creationId xmlns:a16="http://schemas.microsoft.com/office/drawing/2014/main" id="{E7E15654-A976-4B06-B12E-424765AF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3867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终止留痕</a:t>
            </a:r>
          </a:p>
        </p:txBody>
      </p:sp>
      <p:sp>
        <p:nvSpPr>
          <p:cNvPr id="9" name="budget-body-2">
            <a:extLst xmlns:a="http://schemas.openxmlformats.org/drawingml/2006/main">
              <a:ext uri="{FF2B5EF4-FFF2-40B4-BE49-F238E27FC236}">
                <a16:creationId xmlns:a16="http://schemas.microsoft.com/office/drawing/2014/main" id="{36F68E4C-1A6E-4949-AB6C-0E5D5582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57725"/>
            <a:ext cx="847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区分预算、环境与生成错误，未知 usage 保守预留</a:t>
            </a:r>
          </a:p>
        </p:txBody>
      </p:sp>
      <p:sp>
        <p:nvSpPr>
          <p:cNvPr id="10" name="budget-status">
            <a:extLst xmlns:a="http://schemas.openxmlformats.org/drawingml/2006/main">
              <a:ext uri="{FF2B5EF4-FFF2-40B4-BE49-F238E27FC236}">
                <a16:creationId xmlns:a16="http://schemas.microsoft.com/office/drawing/2014/main" id="{0DE147EB-BEB4-4D9A-A296-F0888214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34075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开发上限：512000 token、12 请求、80 次 container exec、1200 秒，均待校准</a:t>
            </a:r>
          </a:p>
        </p:txBody>
      </p:sp>
    </p:spTree>
    <p:extLst>
      <p:ext uri="{BB962C8B-B14F-4D97-AF65-F5344CB8AC3E}">
        <p14:creationId xmlns:p14="http://schemas.microsoft.com/office/powerpoint/2010/main" val="16622408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4">
            <a:extLst xmlns:a="http://schemas.openxmlformats.org/drawingml/2006/main">
              <a:ext uri="{FF2B5EF4-FFF2-40B4-BE49-F238E27FC236}">
                <a16:creationId xmlns:a16="http://schemas.microsoft.com/office/drawing/2014/main" id="{5026C3B0-D00F-41EA-A39E-A316FA89A33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3875" y="971550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独立判分与校准统计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9A1D084-DAC3-4408-B802-B61BBB13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07 / 10</a:t>
            </a:r>
          </a:p>
        </p:txBody>
      </p:sp>
      <p:sp>
        <p:nvSpPr>
          <p:cNvPr id="3" name="historical-scope">
            <a:extLst xmlns:a="http://schemas.openxmlformats.org/drawingml/2006/main">
              <a:ext uri="{FF2B5EF4-FFF2-40B4-BE49-F238E27FC236}">
                <a16:creationId xmlns:a16="http://schemas.microsoft.com/office/drawing/2014/main" id="{32FE3D3B-7536-4A63-9B7D-D83D1E95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2402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补丁冻结后独立判分，结果不回流同次生成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EDB6C-53F2-418E-B6A9-52B23C9B2EFA}"/>
              </a:ext>
            </a:extLst>
          </p:cNvPr>
          <p:cNvGraphicFramePr/>
          <p:nvPr/>
        </p:nvGraphicFramePr>
        <p:xfrm>
          <a:off xmlns:a="http://schemas.openxmlformats.org/drawingml/2006/main" x="571500" y="2381250"/>
          <a:ext xmlns:a="http://schemas.openxmlformats.org/drawingml/2006/main" cx="11049000" cy="2114550"/>
        </p:xfrm>
        <a:graphic xmlns:a="http://schemas.openxmlformats.org/drawingml/2006/main"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28750"/>
                <a:gridCol w="3714750"/>
                <a:gridCol w="2857500"/>
                <a:gridCol w="2952750"/>
              </a:tblGrid>
              <a:tr h="609600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T w="9525">
                      <a:solidFill>
                        <a:srgbClr val="D0D6DF"/>
                      </a:solidFill>
                      <a:prstDash val="solid"/>
                    </a:lnT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绑定或校验对象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T w="9525">
                      <a:solidFill>
                        <a:srgbClr val="D0D6DF"/>
                      </a:solidFill>
                      <a:prstDash val="solid"/>
                    </a:lnT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使用范围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T w="9525">
                      <a:solidFill>
                        <a:srgbClr val="D0D6DF"/>
                      </a:solidFill>
                      <a:prstDash val="solid"/>
                    </a:lnT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缺失处理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T w="9525">
                      <a:solidFill>
                        <a:srgbClr val="D0D6DF"/>
                      </a:solidFill>
                      <a:prstDash val="solid"/>
                    </a:lnT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752475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2F559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独立判分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运行、预测、补丁及报告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新报告必须关联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拒绝串用或篡改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752475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2F559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dev 校准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完整配对拟合阈值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全部 eligible 匹配 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披露分母与缺失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orrected-conclusion">
            <a:extLst xmlns:a="http://schemas.openxmlformats.org/drawingml/2006/main">
              <a:ext uri="{FF2B5EF4-FFF2-40B4-BE49-F238E27FC236}">
                <a16:creationId xmlns:a16="http://schemas.microsoft.com/office/drawing/2014/main" id="{8A3EF9C1-2991-4911-A706-CC620F34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正式记录核对 seed 与哈希，主总体保留环境失败</a:t>
            </a:r>
          </a:p>
        </p:txBody>
      </p:sp>
      <p:sp>
        <p:nvSpPr>
          <p:cNvPr id="6" name="old-cost-definition">
            <a:extLst xmlns:a="http://schemas.openxmlformats.org/drawingml/2006/main">
              <a:ext uri="{FF2B5EF4-FFF2-40B4-BE49-F238E27FC236}">
                <a16:creationId xmlns:a16="http://schemas.microsoft.com/office/drawing/2014/main" id="{B9B54626-17F2-4812-965C-7F82D683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另报共同可运行子集和四元资源，当前产出质量成本比较点</a:t>
            </a:r>
          </a:p>
        </p:txBody>
      </p:sp>
      <p:sp>
        <p:nvSpPr>
          <p:cNvPr id="7" name="historical-limit">
            <a:extLst xmlns:a="http://schemas.openxmlformats.org/drawingml/2006/main">
              <a:ext uri="{FF2B5EF4-FFF2-40B4-BE49-F238E27FC236}">
                <a16:creationId xmlns:a16="http://schemas.microsoft.com/office/drawing/2014/main" id="{9ACEBFC0-0070-4B1E-B10E-1469687F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统计出口已实现，正式统计与多预算成本曲线仍待实测</a:t>
            </a:r>
          </a:p>
        </p:txBody>
      </p:sp>
    </p:spTree>
    <p:extLst>
      <p:ext uri="{BB962C8B-B14F-4D97-AF65-F5344CB8AC3E}">
        <p14:creationId xmlns:p14="http://schemas.microsoft.com/office/powerpoint/2010/main" val="213994030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标题 4">
            <a:extLst xmlns:a="http://schemas.openxmlformats.org/drawingml/2006/main">
              <a:ext uri="{FF2B5EF4-FFF2-40B4-BE49-F238E27FC236}">
                <a16:creationId xmlns:a16="http://schemas.microsoft.com/office/drawing/2014/main" id="{E6490969-D09B-4A78-A00B-5EB3104D92D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3875" y="971550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离线验收与原始资产保护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FEA43C6-B0F4-41C2-A12C-CADA90D3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08 / 10</a:t>
            </a:r>
          </a:p>
        </p:txBody>
      </p:sp>
      <p:sp>
        <p:nvSpPr>
          <p:cNvPr id="3" name="original-count">
            <a:extLst xmlns:a="http://schemas.openxmlformats.org/drawingml/2006/main">
              <a:ext uri="{FF2B5EF4-FFF2-40B4-BE49-F238E27FC236}">
                <a16:creationId xmlns:a16="http://schemas.microsoft.com/office/drawing/2014/main" id="{D6FD5689-2E7F-45A4-8F0E-8FF757B5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4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4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291 / 291</a:t>
            </a:r>
          </a:p>
        </p:txBody>
      </p:sp>
      <p:sp>
        <p:nvSpPr>
          <p:cNvPr id="4" name="archive-count">
            <a:extLst xmlns:a="http://schemas.openxmlformats.org/drawingml/2006/main">
              <a:ext uri="{FF2B5EF4-FFF2-40B4-BE49-F238E27FC236}">
                <a16:creationId xmlns:a16="http://schemas.microsoft.com/office/drawing/2014/main" id="{FB99AEE4-D2FA-4980-9951-C9AE9E3B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+69</a:t>
            </a:r>
          </a:p>
        </p:txBody>
      </p:sp>
      <p:sp>
        <p:nvSpPr>
          <p:cNvPr id="5" name="original-label">
            <a:extLst xmlns:a="http://schemas.openxmlformats.org/drawingml/2006/main">
              <a:ext uri="{FF2B5EF4-FFF2-40B4-BE49-F238E27FC236}">
                <a16:creationId xmlns:a16="http://schemas.microsoft.com/office/drawing/2014/main" id="{404B46B2-0C69-440D-BA7A-1146AD8A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活动离线回归全通过</a:t>
            </a:r>
          </a:p>
        </p:txBody>
      </p:sp>
      <p:sp>
        <p:nvSpPr>
          <p:cNvPr id="6" name="archive-label">
            <a:extLst xmlns:a="http://schemas.openxmlformats.org/drawingml/2006/main">
              <a:ext uri="{FF2B5EF4-FFF2-40B4-BE49-F238E27FC236}">
                <a16:creationId xmlns:a16="http://schemas.microsoft.com/office/drawing/2014/main" id="{DDBA6B84-972E-40B5-A388-8AAACF1E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527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新增边界回归</a:t>
            </a:r>
          </a:p>
        </p:txBody>
      </p:sp>
      <p:sp>
        <p:nvSpPr>
          <p:cNvPr id="7" name="original-hash">
            <a:extLst xmlns:a="http://schemas.openxmlformats.org/drawingml/2006/main">
              <a:ext uri="{FF2B5EF4-FFF2-40B4-BE49-F238E27FC236}">
                <a16:creationId xmlns:a16="http://schemas.microsoft.com/office/drawing/2014/main" id="{49B73A0B-192E-42B6-9BEF-9958EAA7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假模型、假容器、假 harness</a:t>
            </a:r>
          </a:p>
        </p:txBody>
      </p:sp>
      <p:sp>
        <p:nvSpPr>
          <p:cNvPr id="8" name="archive-hash">
            <a:extLst xmlns:a="http://schemas.openxmlformats.org/drawingml/2006/main">
              <a:ext uri="{FF2B5EF4-FFF2-40B4-BE49-F238E27FC236}">
                <a16:creationId xmlns:a16="http://schemas.microsoft.com/office/drawing/2014/main" id="{AEAA1EBA-08B1-4F12-B39E-09211551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相较上一轮 222 项</a:t>
            </a:r>
          </a:p>
        </p:txBody>
      </p:sp>
      <p:sp>
        <p:nvSpPr>
          <p:cNvPr id="9" name="output-directory">
            <a:extLst xmlns:a="http://schemas.openxmlformats.org/drawingml/2006/main">
              <a:ext uri="{FF2B5EF4-FFF2-40B4-BE49-F238E27FC236}">
                <a16:creationId xmlns:a16="http://schemas.microsoft.com/office/drawing/2014/main" id="{9C9005D8-035F-4D41-9B4D-8958486C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原始资产 93/93，归档原件 131/131 哈希一致</a:t>
            </a:r>
          </a:p>
        </p:txBody>
      </p:sp>
      <p:sp>
        <p:nvSpPr>
          <p:cNvPr id="10" name="population-note">
            <a:extLst xmlns:a="http://schemas.openxmlformats.org/drawingml/2006/main">
              <a:ext uri="{FF2B5EF4-FFF2-40B4-BE49-F238E27FC236}">
                <a16:creationId xmlns:a16="http://schemas.microsoft.com/office/drawing/2014/main" id="{60EBA883-BE48-4B3A-9F8E-188D9F91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覆盖路由、隔离、预算、异常与判分关联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真实模型、Docker 和官方 harness 本轮未运行</a:t>
            </a:r>
          </a:p>
        </p:txBody>
      </p:sp>
      <p:sp>
        <p:nvSpPr>
          <p:cNvPr id="11" name="handoff-docs">
            <a:extLst xmlns:a="http://schemas.openxmlformats.org/drawingml/2006/main">
              <a:ext uri="{FF2B5EF4-FFF2-40B4-BE49-F238E27FC236}">
                <a16:creationId xmlns:a16="http://schemas.microsoft.com/office/drawing/2014/main" id="{3BAFE32E-76F4-4128-AFAE-8DD9D07A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历史原件保持字节不变，旧复现与新验收材料分别保留</a:t>
            </a:r>
          </a:p>
        </p:txBody>
      </p:sp>
    </p:spTree>
    <p:extLst>
      <p:ext uri="{BB962C8B-B14F-4D97-AF65-F5344CB8AC3E}">
        <p14:creationId xmlns:p14="http://schemas.microsoft.com/office/powerpoint/2010/main" val="1352384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标题 4">
            <a:extLst xmlns:a="http://schemas.openxmlformats.org/drawingml/2006/main">
              <a:ext uri="{FF2B5EF4-FFF2-40B4-BE49-F238E27FC236}">
                <a16:creationId xmlns:a16="http://schemas.microsoft.com/office/drawing/2014/main" id="{5026C3B0-D00F-41EA-A39E-A316FA89A33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3875" y="971550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3 例 dev 的分阶段准备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20451AE-1959-4A38-8652-628689DF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09 / 10</a:t>
            </a:r>
          </a:p>
        </p:txBody>
      </p:sp>
      <p:sp>
        <p:nvSpPr>
          <p:cNvPr id="3" name="test-count">
            <a:extLst xmlns:a="http://schemas.openxmlformats.org/drawingml/2006/main">
              <a:ext uri="{FF2B5EF4-FFF2-40B4-BE49-F238E27FC236}">
                <a16:creationId xmlns:a16="http://schemas.microsoft.com/office/drawing/2014/main" id="{2F36F369-7BAA-4B94-8A00-C7AAC888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1 + 2</a:t>
            </a:r>
          </a:p>
        </p:txBody>
      </p:sp>
      <p:sp>
        <p:nvSpPr>
          <p:cNvPr id="4" name="test-count-unit">
            <a:extLst xmlns:a="http://schemas.openxmlformats.org/drawingml/2006/main">
              <a:ext uri="{FF2B5EF4-FFF2-40B4-BE49-F238E27FC236}">
                <a16:creationId xmlns:a16="http://schemas.microsoft.com/office/drawing/2014/main" id="{56A9FCD3-3AC7-4439-805A-C83B3168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861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首例验收后再扩展两例</a:t>
            </a:r>
          </a:p>
        </p:txBody>
      </p:sp>
      <p:sp>
        <p:nvSpPr>
          <p:cNvPr id="5" name="fake-runtime">
            <a:extLst xmlns:a="http://schemas.openxmlformats.org/drawingml/2006/main">
              <a:ext uri="{FF2B5EF4-FFF2-40B4-BE49-F238E27FC236}">
                <a16:creationId xmlns:a16="http://schemas.microsoft.com/office/drawing/2014/main" id="{5DA7E40A-A435-43D9-B4F9-B1CF0372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338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覆盖 3 个仓库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完整保留 dev 23 例台账</a:t>
            </a:r>
          </a:p>
        </p:txBody>
      </p:sp>
      <p:sp>
        <p:nvSpPr>
          <p:cNvPr id="6" name="verified-label">
            <a:extLst xmlns:a="http://schemas.openxmlformats.org/drawingml/2006/main">
              <a:ext uri="{FF2B5EF4-FFF2-40B4-BE49-F238E27FC236}">
                <a16:creationId xmlns:a16="http://schemas.microsoft.com/office/drawing/2014/main" id="{C02248DD-5172-4E3E-A14F-E8011769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首例（未执行）</a:t>
            </a:r>
          </a:p>
        </p:txBody>
      </p:sp>
      <p:sp>
        <p:nvSpPr>
          <p:cNvPr id="7" name="verified-body">
            <a:extLst xmlns:a="http://schemas.openxmlformats.org/drawingml/2006/main">
              <a:ext uri="{FF2B5EF4-FFF2-40B4-BE49-F238E27FC236}">
                <a16:creationId xmlns:a16="http://schemas.microsoft.com/office/drawing/2014/main" id="{2313E76E-0810-4025-80AE-BDD709A1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52675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pvlib__pvlib-python-1707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仅按实例 ID 与仓库分布抽取</a:t>
            </a:r>
          </a:p>
        </p:txBody>
      </p:sp>
      <p:sp>
        <p:nvSpPr>
          <p:cNvPr id="8" name="unverified-label">
            <a:extLst xmlns:a="http://schemas.openxmlformats.org/drawingml/2006/main">
              <a:ext uri="{FF2B5EF4-FFF2-40B4-BE49-F238E27FC236}">
                <a16:creationId xmlns:a16="http://schemas.microsoft.com/office/drawing/2014/main" id="{AC14B3A6-C19D-4EE5-B582-A0FE38E5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100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扩展两例（未执行）</a:t>
            </a:r>
          </a:p>
        </p:txBody>
      </p:sp>
      <p:sp>
        <p:nvSpPr>
          <p:cNvPr id="9" name="unverified-body">
            <a:extLst xmlns:a="http://schemas.openxmlformats.org/drawingml/2006/main">
              <a:ext uri="{FF2B5EF4-FFF2-40B4-BE49-F238E27FC236}">
                <a16:creationId xmlns:a16="http://schemas.microsoft.com/office/drawing/2014/main" id="{80B327CC-382C-4C5A-836D-461E57A9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14850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pydicom__pydicom-1139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pyvista__pyvista-4315</a:t>
            </a:r>
          </a:p>
        </p:txBody>
      </p:sp>
      <p:sp>
        <p:nvSpPr>
          <p:cNvPr id="10" name="offline-scope">
            <a:extLst xmlns:a="http://schemas.openxmlformats.org/drawingml/2006/main">
              <a:ext uri="{FF2B5EF4-FFF2-40B4-BE49-F238E27FC236}">
                <a16:creationId xmlns:a16="http://schemas.microsoft.com/office/drawing/2014/main" id="{DEC726DC-914F-444C-A155-7D78A619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种子 20261030。单策略实例 2 CNY，批次 6 CNY，诊断上界 18 CNY，可能提前停止</a:t>
            </a:r>
          </a:p>
        </p:txBody>
      </p:sp>
    </p:spTree>
    <p:extLst>
      <p:ext uri="{BB962C8B-B14F-4D97-AF65-F5344CB8AC3E}">
        <p14:creationId xmlns:p14="http://schemas.microsoft.com/office/powerpoint/2010/main" val="188592718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标题 4">
            <a:extLst xmlns:a="http://schemas.openxmlformats.org/drawingml/2006/main">
              <a:ext uri="{FF2B5EF4-FFF2-40B4-BE49-F238E27FC236}">
                <a16:creationId xmlns:a16="http://schemas.microsoft.com/office/drawing/2014/main" id="{78C92078-9F3D-4897-81DE-D0343304FBA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3875" y="971550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下一阶段的验收与研究任务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812887-03F9-4C5D-9E66-2516AAEF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10 / 10</a:t>
            </a:r>
          </a:p>
        </p:txBody>
      </p:sp>
      <p:sp>
        <p:nvSpPr>
          <p:cNvPr id="3" name="next-step-0">
            <a:extLst xmlns:a="http://schemas.openxmlformats.org/drawingml/2006/main">
              <a:ext uri="{FF2B5EF4-FFF2-40B4-BE49-F238E27FC236}">
                <a16:creationId xmlns:a16="http://schemas.microsoft.com/office/drawing/2014/main" id="{03605AA7-3E4E-46D1-AAC1-029747C7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4" name="next-title-0">
            <a:extLst xmlns:a="http://schemas.openxmlformats.org/drawingml/2006/main">
              <a:ext uri="{FF2B5EF4-FFF2-40B4-BE49-F238E27FC236}">
                <a16:creationId xmlns:a16="http://schemas.microsoft.com/office/drawing/2014/main" id="{D8B6A604-D330-4D47-A024-0EB88FB6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573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首例集成</a:t>
            </a:r>
          </a:p>
        </p:txBody>
      </p:sp>
      <p:sp>
        <p:nvSpPr>
          <p:cNvPr id="5" name="next-detail-0">
            <a:extLst xmlns:a="http://schemas.openxmlformats.org/drawingml/2006/main">
              <a:ext uri="{FF2B5EF4-FFF2-40B4-BE49-F238E27FC236}">
                <a16:creationId xmlns:a16="http://schemas.microsoft.com/office/drawing/2014/main" id="{630D8C75-EDF3-4EE2-957B-9DA36EA0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76425"/>
            <a:ext cx="714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明确授权并固定服务模型，在 WSL 验收接口与公开测试</a:t>
            </a:r>
          </a:p>
        </p:txBody>
      </p:sp>
      <p:sp>
        <p:nvSpPr>
          <p:cNvPr id="6" name="next-step-1">
            <a:extLst xmlns:a="http://schemas.openxmlformats.org/drawingml/2006/main">
              <a:ext uri="{FF2B5EF4-FFF2-40B4-BE49-F238E27FC236}">
                <a16:creationId xmlns:a16="http://schemas.microsoft.com/office/drawing/2014/main" id="{48C8A7FF-C75F-4FBA-A0F6-AEAB4584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next-title-1">
            <a:extLst xmlns:a="http://schemas.openxmlformats.org/drawingml/2006/main">
              <a:ext uri="{FF2B5EF4-FFF2-40B4-BE49-F238E27FC236}">
                <a16:creationId xmlns:a16="http://schemas.microsoft.com/office/drawing/2014/main" id="{252495A9-9924-4348-A9E2-404276F5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527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扩展与校准</a:t>
            </a:r>
          </a:p>
        </p:txBody>
      </p:sp>
      <p:sp>
        <p:nvSpPr>
          <p:cNvPr id="8" name="next-detail-1">
            <a:extLst xmlns:a="http://schemas.openxmlformats.org/drawingml/2006/main">
              <a:ext uri="{FF2B5EF4-FFF2-40B4-BE49-F238E27FC236}">
                <a16:creationId xmlns:a16="http://schemas.microsoft.com/office/drawing/2014/main" id="{AD79D9FE-8615-450A-A850-67E31A4B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71775"/>
            <a:ext cx="714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完成其余两例，再做完整 dev 路由与预算校准</a:t>
            </a:r>
          </a:p>
        </p:txBody>
      </p:sp>
      <p:sp>
        <p:nvSpPr>
          <p:cNvPr id="9" name="next-step-2">
            <a:extLst xmlns:a="http://schemas.openxmlformats.org/drawingml/2006/main">
              <a:ext uri="{FF2B5EF4-FFF2-40B4-BE49-F238E27FC236}">
                <a16:creationId xmlns:a16="http://schemas.microsoft.com/office/drawing/2014/main" id="{0C7389F6-0532-42BF-AFA5-6F9E9045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" name="next-title-2">
            <a:extLst xmlns:a="http://schemas.openxmlformats.org/drawingml/2006/main">
              <a:ext uri="{FF2B5EF4-FFF2-40B4-BE49-F238E27FC236}">
                <a16:creationId xmlns:a16="http://schemas.microsoft.com/office/drawing/2014/main" id="{73FC76C3-FD64-4E48-8504-6C8AF906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480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正式重复</a:t>
            </a:r>
          </a:p>
        </p:txBody>
      </p:sp>
      <p:sp>
        <p:nvSpPr>
          <p:cNvPr id="11" name="next-detail-2">
            <a:extLst xmlns:a="http://schemas.openxmlformats.org/drawingml/2006/main">
              <a:ext uri="{FF2B5EF4-FFF2-40B4-BE49-F238E27FC236}">
                <a16:creationId xmlns:a16="http://schemas.microsoft.com/office/drawing/2014/main" id="{88692C60-6D84-4536-9855-E78BFFF4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67125"/>
            <a:ext cx="714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预注册 test 总体或分层子集，同实例至少三次重复</a:t>
            </a:r>
          </a:p>
        </p:txBody>
      </p:sp>
      <p:sp>
        <p:nvSpPr>
          <p:cNvPr id="12" name="next-step-3">
            <a:extLst xmlns:a="http://schemas.openxmlformats.org/drawingml/2006/main">
              <a:ext uri="{FF2B5EF4-FFF2-40B4-BE49-F238E27FC236}">
                <a16:creationId xmlns:a16="http://schemas.microsoft.com/office/drawing/2014/main" id="{7AD7ABBE-6E37-437E-BCAA-239FCBD4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3" name="next-title-3">
            <a:extLst xmlns:a="http://schemas.openxmlformats.org/drawingml/2006/main">
              <a:ext uri="{FF2B5EF4-FFF2-40B4-BE49-F238E27FC236}">
                <a16:creationId xmlns:a16="http://schemas.microsoft.com/office/drawing/2014/main" id="{AF55ADDD-3EC7-4477-AF35-631BFA12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434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统计与审查</a:t>
            </a:r>
          </a:p>
        </p:txBody>
      </p:sp>
      <p:sp>
        <p:nvSpPr>
          <p:cNvPr id="14" name="next-detail-3">
            <a:extLst xmlns:a="http://schemas.openxmlformats.org/drawingml/2006/main">
              <a:ext uri="{FF2B5EF4-FFF2-40B4-BE49-F238E27FC236}">
                <a16:creationId xmlns:a16="http://schemas.microsoft.com/office/drawing/2014/main" id="{9AF9065E-B45B-4850-8FDF-0DEF689E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62475"/>
            <a:ext cx="714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实例聚类区间、逐仓库与宏平均，补消融和人工审查</a:t>
            </a:r>
          </a:p>
        </p:txBody>
      </p:sp>
      <p:sp>
        <p:nvSpPr>
          <p:cNvPr id="15" name="current-gate">
            <a:extLst xmlns:a="http://schemas.openxmlformats.org/drawingml/2006/main">
              <a:ext uri="{FF2B5EF4-FFF2-40B4-BE49-F238E27FC236}">
                <a16:creationId xmlns:a16="http://schemas.microsoft.com/office/drawing/2014/main" id="{ECEC2D97-21E8-4441-978D-798E4A6D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配置仍待校准，真实容器与付费生成均未执行</a:t>
            </a:r>
          </a:p>
        </p:txBody>
      </p:sp>
    </p:spTree>
    <p:extLst>
      <p:ext uri="{BB962C8B-B14F-4D97-AF65-F5344CB8AC3E}">
        <p14:creationId xmlns:p14="http://schemas.microsoft.com/office/powerpoint/2010/main" val="1972620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2026-10-29T16:55:24.1320000Z</dcterms:created>
  <dcterms:modified xsi:type="dcterms:W3CDTF">2026-10-29T16:55:24.1330000Z</dcterms:modified>
</coreProperties>
</file>