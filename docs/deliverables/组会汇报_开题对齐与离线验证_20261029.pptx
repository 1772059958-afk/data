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46321140bb4888" /><Relationship Type="http://schemas.openxmlformats.org/officeDocument/2006/relationships/extended-properties" Target="/docProps/app.xml" Id="Rdd19e01ea1394037" /><Relationship Type="http://schemas.openxmlformats.org/officeDocument/2006/relationships/officeDocument" Target="/ppt/presentation.xml" Id="Rc9ad2a17d0e64d8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15cd1b39cf446a0"/>
  </p:sldMasterIdLst>
  <p:notesMasterIdLst>
    <p:notesMasterId xmlns:r="http://schemas.openxmlformats.org/officeDocument/2006/relationships" r:id="R3c62ed0262114a7c"/>
  </p:notesMasterIdLst>
  <p:sldIdLst>
    <p:sldId xmlns:r="http://schemas.openxmlformats.org/officeDocument/2006/relationships" id="256" r:id="Reb75fc19913e44c0"/>
    <p:sldId xmlns:r="http://schemas.openxmlformats.org/officeDocument/2006/relationships" id="257" r:id="Rcf5add19810643de"/>
    <p:sldId xmlns:r="http://schemas.openxmlformats.org/officeDocument/2006/relationships" id="258" r:id="R6a301e6aef344d1c"/>
    <p:sldId xmlns:r="http://schemas.openxmlformats.org/officeDocument/2006/relationships" id="259" r:id="Re2d68c4261794d85"/>
    <p:sldId xmlns:r="http://schemas.openxmlformats.org/officeDocument/2006/relationships" id="260" r:id="R776ee0f338684498"/>
    <p:sldId xmlns:r="http://schemas.openxmlformats.org/officeDocument/2006/relationships" id="261" r:id="R5dd879ebb78b4d1a"/>
    <p:sldId xmlns:r="http://schemas.openxmlformats.org/officeDocument/2006/relationships" id="262" r:id="R31a87bf456db48a2"/>
    <p:sldId xmlns:r="http://schemas.openxmlformats.org/officeDocument/2006/relationships" id="263" r:id="R070e832cb23b48f9"/>
    <p:sldId xmlns:r="http://schemas.openxmlformats.org/officeDocument/2006/relationships" id="264" r:id="R727fe6320abc4e0b"/>
    <p:sldId xmlns:r="http://schemas.openxmlformats.org/officeDocument/2006/relationships" id="265" r:id="Ra57a25e559a44f13"/>
  </p:sldIdLst>
  <p:sldSz cx="12192000" cy="6858000"/>
  <p:notesSz cx="6858000" cy="9144000"/>
  <p:embeddedFontLst>
    <p:embeddedFont>
      <p:font typeface="微软雅黑"/>
      <p:regular xmlns:r="http://schemas.openxmlformats.org/officeDocument/2006/relationships" r:id="R2f4ab1a91f2d42e8"/>
      <p:bold xmlns:r="http://schemas.openxmlformats.org/officeDocument/2006/relationships" r:id="R86824916a6884eb7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31607fc8094aa5" /><Relationship Type="http://schemas.openxmlformats.org/officeDocument/2006/relationships/slideMaster" Target="/ppt/slideMasters/slideMaster1.xml" Id="R115cd1b39cf446a0" /><Relationship Type="http://schemas.openxmlformats.org/officeDocument/2006/relationships/notesMaster" Target="/ppt/notesMasters/notesMaster1.xml" Id="R3c62ed0262114a7c" /><Relationship Type="http://schemas.openxmlformats.org/officeDocument/2006/relationships/presProps" Target="/ppt/presProps.xml" Id="R5707c2a6e4ae4788" /><Relationship Type="http://schemas.openxmlformats.org/officeDocument/2006/relationships/viewProps" Target="/ppt/viewProps.xml" Id="Rbc5b67c06c984bed" /><Relationship Type="http://schemas.openxmlformats.org/officeDocument/2006/relationships/tableStyles" Target="/ppt/tableStyles.xml" Id="R3f9097c66c774482" /><Relationship Type="http://schemas.openxmlformats.org/officeDocument/2006/relationships/font" Target="/ppt/fonts/font.dat" Id="R2f4ab1a91f2d42e8" /><Relationship Type="http://schemas.openxmlformats.org/officeDocument/2006/relationships/font" Target="/ppt/fonts/font2.dat" Id="R86824916a6884eb7" /><Relationship Type="http://schemas.openxmlformats.org/officeDocument/2006/relationships/slide" Target="/ppt/slides/slide1.xml" Id="Reb75fc19913e44c0" /><Relationship Type="http://schemas.openxmlformats.org/officeDocument/2006/relationships/slide" Target="/ppt/slides/slide2.xml" Id="Rcf5add19810643de" /><Relationship Type="http://schemas.openxmlformats.org/officeDocument/2006/relationships/slide" Target="/ppt/slides/slide3.xml" Id="R6a301e6aef344d1c" /><Relationship Type="http://schemas.openxmlformats.org/officeDocument/2006/relationships/slide" Target="/ppt/slides/slide4.xml" Id="Re2d68c4261794d85" /><Relationship Type="http://schemas.openxmlformats.org/officeDocument/2006/relationships/slide" Target="/ppt/slides/slide5.xml" Id="R776ee0f338684498" /><Relationship Type="http://schemas.openxmlformats.org/officeDocument/2006/relationships/slide" Target="/ppt/slides/slide6.xml" Id="R5dd879ebb78b4d1a" /><Relationship Type="http://schemas.openxmlformats.org/officeDocument/2006/relationships/slide" Target="/ppt/slides/slide7.xml" Id="R31a87bf456db48a2" /><Relationship Type="http://schemas.openxmlformats.org/officeDocument/2006/relationships/slide" Target="/ppt/slides/slide8.xml" Id="R070e832cb23b48f9" /><Relationship Type="http://schemas.openxmlformats.org/officeDocument/2006/relationships/slide" Target="/ppt/slides/slide9.xml" Id="R727fe6320abc4e0b" /><Relationship Type="http://schemas.openxmlformats.org/officeDocument/2006/relationships/slide" Target="/ppt/slides/slide10.xml" Id="Ra57a25e559a44f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09cc0a5395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5afd8ca524978" /><Relationship Type="http://schemas.openxmlformats.org/officeDocument/2006/relationships/notesMaster" Target="/ppt/notesMasters/notesMaster1.xml" Id="R08878b026e404d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1bfd82fd344293" /><Relationship Type="http://schemas.openxmlformats.org/officeDocument/2006/relationships/notesMaster" Target="/ppt/notesMasters/notesMaster1.xml" Id="Rccd50a0e56424b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67a9dc3dc24059" /><Relationship Type="http://schemas.openxmlformats.org/officeDocument/2006/relationships/notesMaster" Target="/ppt/notesMasters/notesMaster1.xml" Id="R3870a7ae46d742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45702c776b4f7f" /><Relationship Type="http://schemas.openxmlformats.org/officeDocument/2006/relationships/notesMaster" Target="/ppt/notesMasters/notesMaster1.xml" Id="R7183ff778d6944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41e565ffa24aaf" /><Relationship Type="http://schemas.openxmlformats.org/officeDocument/2006/relationships/notesMaster" Target="/ppt/notesMasters/notesMaster1.xml" Id="Re908191e8669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559f4215804754" /><Relationship Type="http://schemas.openxmlformats.org/officeDocument/2006/relationships/notesMaster" Target="/ppt/notesMasters/notesMaster1.xml" Id="R9e19a43c11f24d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ddedd0e1614e76" /><Relationship Type="http://schemas.openxmlformats.org/officeDocument/2006/relationships/notesMaster" Target="/ppt/notesMasters/notesMaster1.xml" Id="Rf31bd3cbe4cd45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5fa26f9331474e" /><Relationship Type="http://schemas.openxmlformats.org/officeDocument/2006/relationships/notesMaster" Target="/ppt/notesMasters/notesMaster1.xml" Id="Rf8095cf271e942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e15ceee6224e20" /><Relationship Type="http://schemas.openxmlformats.org/officeDocument/2006/relationships/notesMaster" Target="/ppt/notesMasters/notesMaster1.xml" Id="R041514bf1a8a42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44879b53134982" /><Relationship Type="http://schemas.openxmlformats.org/officeDocument/2006/relationships/notesMaster" Target="/ppt/notesMasters/notesMaster1.xml" Id="R905ca7dcd4d246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围绕开题报告重新检查实验过程，并说明已经完成的修复。当前完成的是实验代码和离线验证，尚未开展新协议下的真实模型实验。下面先说明研究问题和原流程中的偏离，再讲具体修复、历史结果口径更正，以及下一阶段的验证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资料来源：`README.md`；`docs/开题报告正文摘录.md`；`docs/离线验证_20261029.md`。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题关注的是交互升级相对于继续固定流程的增量价值。要回答这个问题，比较必须保持模型、初始信息和资源上限一致。这轮主要把这些条件落实到代码里，并给后续实验留下可复核的入口。我们没有把混合方法必须更强作为目标，也没有为了让自适应组与级联组不同而修改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资料来源：开题 §3.2、§5、§6，`docs/开题报告正文摘录.md`；`README.md`。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期已经打通生成和判分链路，但有四处会影响结论解释。第一，证据不足时的默认方向与开题相反。第二，交互分支可能额外获得固定延续的信息。第三，预算上限没有完整约束到每次实际动作。第四，成本比较混用了两种不同策略。本轮首先修复这些实验条件，而后再讨论路由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资料来源：`docs/项目分析_20261029.md` §6；`docs/实验协议_开题对齐.md`；`git log 3759265..b42c1c2`。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入口区分正式运行和研究诊断。正式运行只执行该策略选择的分支，同一实例和重复下，各组复用同一份实际前缀。配对诊断则只针对前缀失败且仍可继续的任务，两条分支分别恢复状态和干净仓库。它们拿到相同的前缀信息与剩余预算。双分支的总采集开销单独记录，不能当作部署时的策略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资料来源：`docs/实验协议_开题对齐.md`“五组与两种运行模式”；`src/swe_repair/experiment.py`；`tests/test_experiment.py`。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由现在恢复了开题的保守默认选择。局部格式问题可以先在固定流程内修正；需要补充定位或调用关系证据时，才有升级交互的依据。定位集合会先规范到实际仓库路径，测试文件路径本身不算新的源码依赖。候选选择也增加了前置排除条件。公开测试通过只代表候选具备提交条件，最终解决与否仍由独立评测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资料来源：开题 §4.3、§4.5；`docs/实验协议_开题对齐.md`“D 组规则顺序”“信息边界与候选选择”；`src/swe_repair/router.py`、`state.py`、`patchutil.py`。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预算控制的变化是从“配置里有上限”变成“每次动作前检查”。固定流程的容器命令也计入全局工具执行数。交互会话最后一次提交补丁的请求从原有调用额度中预留，不再超出上限追加。中断或缺少 usage 的请求仍可能消耗资源，所以按保守上界记账并保留未知标记。真实负载下应使用什么预算档，还需要后续在开发集确定。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资料来源：开题 §3.1；`docs/实验协议_开题对齐.md`“预算与计费”；`src/swe_repair/execution.py`、`llm.py`、`interact.py`；`tests/test_core_contracts.py`。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这一页是对旧汇报的更正，不是新实验的效果。真实 C 遵守共享早停，实际升级四次，与 D 完全相同。重算后，两者成本都为约 0.574 元。原来列为 C 的约 0.688 元，是所有七个实例无条件采用交互结果的假想策略。因此，旧样本不能支持 D 比 C 省钱。配对分析还应排除三个共享早停实例，只剩四个可继续失败案例，不能把分母混用。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资料来源：`runs/offline_validation/cf_dev7_v23_reanalysis.json`：`historical_diagnostic_only=true`、`policies` 的 C_actual/D_actual、`paired_eligible=4`；`docs/项目分析_20261029.md` §6。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旧实验结果仍有故障诊断和案例分析价值，因此全部保留。退出正式流程的是不再成立的规则、旧入口及其效果解释。原始 data 和 reports 文件有修复前哈希，退役材料另有归档索引。新实验使用独立输出目录，防止重跑覆盖历史证据。完整 test 清单仍为三百个；资源不足时应先固定分层子集，而不是直接沿用已下载镜像形成的九十八个案例。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资料来源：`docs/离线验证_20261029.md`“已核验的资产保护”；`dustbin/legacy_20261029/preservation_manifest.json`、`archive_inventory.json`；`reports/README.md`。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机活动测试套件目前二百二十二项全部通过，测试通过注入的假模型、假容器以及纯逻辑运行，网络连接也受到阻断。它说明相关约束和异常路径在离线场景中通过回归，不代表真实服务兼容或新方法效果已经得到验证。模型版本、阈值和前缀占比仍是待校准状态；真实容器集成也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资料来源：`docs/离线验证_20261029.md`；`scripts/run_offline_tests.py`；`AGENTS.md` 当前交接验证。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先做小规模真实集成，确认模型工具接口、补丁应用和公开测试能按预期运行，再在开发集确定阈值和预算。正式测试前固定样本清单、模型版本和配置，不利用测试结果回调参数。主对照至少重复三次，以实例为单位重采样，保留同一实例的全部重复。最后通过消融与人工语义审查分析路由误判和失败边界。当前仍不开展付费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资料来源：开题 §6.1–§6.3；`AGENTS.md`“正式实验前的工作顺序”；`docs/实验协议_开题对齐.md`“数据与统计”。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5f70317f94790" /><Relationship Type="http://schemas.openxmlformats.org/officeDocument/2006/relationships/image" Target="/ppt/media/image.png" Id="R9b1b663876b24730" /><Relationship Type="http://schemas.openxmlformats.org/officeDocument/2006/relationships/image" Target="/ppt/media/image2.png" Id="Rdadc99a6de5d48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3343d17364dbc" /><Relationship Type="http://schemas.openxmlformats.org/officeDocument/2006/relationships/image" Target="/ppt/media/image2.png" Id="Rbfd9b3f3ceda4577" /><Relationship Type="http://schemas.openxmlformats.org/officeDocument/2006/relationships/image" Target="/ppt/media/image3.png" Id="R282dd8476dd1424e" /><Relationship Type="http://schemas.openxmlformats.org/officeDocument/2006/relationships/image" Target="/ppt/media/image4.png" Id="R55aba18ed4564f38" /><Relationship Type="http://schemas.openxmlformats.org/officeDocument/2006/relationships/image" Target="/ppt/media/image.svg" Id="Reecb41950e724b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d4e12bb5d45fe" /><Relationship Type="http://schemas.openxmlformats.org/officeDocument/2006/relationships/image" Target="/ppt/media/image2.png" Id="Rf7148ea63a454ebe" /><Relationship Type="http://schemas.openxmlformats.org/officeDocument/2006/relationships/image" Target="/ppt/media/image3.png" Id="Ra0b62a08cd944881" /><Relationship Type="http://schemas.openxmlformats.org/officeDocument/2006/relationships/image" Target="/ppt/media/image4.png" Id="Ra28ae00e435249aa" /><Relationship Type="http://schemas.openxmlformats.org/officeDocument/2006/relationships/image" Target="/ppt/media/image.svg" Id="R57452935c2e742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e624072174e39" /><Relationship Type="http://schemas.openxmlformats.org/officeDocument/2006/relationships/image" Target="/ppt/media/image2.png" Id="R48b5ae00deda4a72" /><Relationship Type="http://schemas.openxmlformats.org/officeDocument/2006/relationships/image" Target="/ppt/media/image3.png" Id="Rc3752d7b407e4e4d" /><Relationship Type="http://schemas.openxmlformats.org/officeDocument/2006/relationships/image" Target="/ppt/media/image4.png" Id="R7d5cea733d574679" /><Relationship Type="http://schemas.openxmlformats.org/officeDocument/2006/relationships/image" Target="/ppt/media/image.svg" Id="R3100e780bcee4b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8f07540df4e0f" /><Relationship Type="http://schemas.openxmlformats.org/officeDocument/2006/relationships/image" Target="/ppt/media/image2.png" Id="Rb79b495866314c39" /><Relationship Type="http://schemas.openxmlformats.org/officeDocument/2006/relationships/image" Target="/ppt/media/image3.png" Id="Rdd54764b94e54574" /><Relationship Type="http://schemas.openxmlformats.org/officeDocument/2006/relationships/image" Target="/ppt/media/image4.png" Id="R4332254f91984cc7" /><Relationship Type="http://schemas.openxmlformats.org/officeDocument/2006/relationships/image" Target="/ppt/media/image.svg" Id="R4d1a8f7794b043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1bb372f684b91" /><Relationship Type="http://schemas.openxmlformats.org/officeDocument/2006/relationships/image" Target="/ppt/media/image2.png" Id="R18b7d9200ffb491c" /><Relationship Type="http://schemas.openxmlformats.org/officeDocument/2006/relationships/image" Target="/ppt/media/image3.png" Id="R33f75d7b9d064aae" /><Relationship Type="http://schemas.openxmlformats.org/officeDocument/2006/relationships/image" Target="/ppt/media/image4.png" Id="Re35f9906909a4d5a" /><Relationship Type="http://schemas.openxmlformats.org/officeDocument/2006/relationships/image" Target="/ppt/media/image.svg" Id="R4b0be0364a034e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da9a49c114187" /><Relationship Type="http://schemas.openxmlformats.org/officeDocument/2006/relationships/image" Target="/ppt/media/image2.png" Id="R5528a25f2ed3468c" /><Relationship Type="http://schemas.openxmlformats.org/officeDocument/2006/relationships/image" Target="/ppt/media/image3.png" Id="Rf706beb83dad408b" /><Relationship Type="http://schemas.openxmlformats.org/officeDocument/2006/relationships/image" Target="/ppt/media/image4.png" Id="R45f6a06e5bf9464b" /><Relationship Type="http://schemas.openxmlformats.org/officeDocument/2006/relationships/image" Target="/ppt/media/image.svg" Id="R8da4f9d1c91b4a3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71fc1575a4936" /><Relationship Type="http://schemas.openxmlformats.org/officeDocument/2006/relationships/image" Target="/ppt/media/image2.png" Id="Rf6a9ce7d80f043c0" /><Relationship Type="http://schemas.openxmlformats.org/officeDocument/2006/relationships/image" Target="/ppt/media/image3.png" Id="R5806e36c18014a6d" /><Relationship Type="http://schemas.openxmlformats.org/officeDocument/2006/relationships/image" Target="/ppt/media/image4.png" Id="Rbb94e0512f3247e8" /><Relationship Type="http://schemas.openxmlformats.org/officeDocument/2006/relationships/image" Target="/ppt/media/image.svg" Id="R66744ef2f3c441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dd20e3b474761" /><Relationship Type="http://schemas.openxmlformats.org/officeDocument/2006/relationships/image" Target="/ppt/media/image3.png" Id="Rafc366b363254246" /></Relationships>
</file>

<file path=ppt/slideLayouts/slideLayout1.xml><?xml version="1.0" encoding="utf-8"?>
<p:sldLayout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68037AA5-B85E-42EA-9C96-17ACBD2E0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b663876b24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495201"/>
            <a:ext cx="12192000" cy="3362799"/>
          </a:xfrm>
          <a:prstGeom xmlns:a="http://schemas.openxmlformats.org/drawingml/2006/main" prst="rect">
            <a:avLst/>
          </a:prstGeom>
        </p:spPr>
      </p:pic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EDBC9017-FB79-4E02-BAF1-229A9F2929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708697"/>
            <a:ext cx="10515600" cy="1193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 sz="3600" b="1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标题内容</a:t>
            </a:r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509DE473-0494-4DBB-AE5A-2D48ED720DC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595687" y="4076153"/>
            <a:ext cx="5000625" cy="1073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2000"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副标题内容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3BB4C37-3B49-47A1-A011-71A63A9F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1" name="图片 10">
            <a:extLst xmlns:a="http://schemas.openxmlformats.org/drawingml/2006/main">
              <a:ext uri="{FF2B5EF4-FFF2-40B4-BE49-F238E27FC236}">
                <a16:creationId xmlns:a16="http://schemas.microsoft.com/office/drawing/2014/main" id="{CD53C2AD-A6DA-4107-830A-6C6868661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c99a6de5d4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3938" y="105361"/>
            <a:ext cx="1684124" cy="36240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内容页-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D5EF7D4-97E2-41F8-A9CD-87D36947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2242424-C7A8-4968-94C2-02164297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052DA4D-88C2-4B3F-9AEE-67930974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2EEC0F0-BDF3-4656-BE9B-8206FDA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4B13B7C-CFF4-456A-8470-E23045BF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4451106-BF09-4186-B23C-4CB468E2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536433C6-2E2E-4B80-8BB5-AE507CCBF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9b3f3ceda45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A5FF9FB-7829-4FE7-BC65-D432BA46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4573DD6C-5132-42FA-A35A-33CED264B2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dd8476dd1424e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4C6B407A-49B6-41DB-9C69-2530E0DC9E5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8511" y="3036458"/>
            <a:ext cx="10834978" cy="785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lnSpc>
                <a:spcPct val="100000"/>
              </a:lnSpc>
              <a:buNone/>
              <a:defRPr sz="32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D10F00-C50F-42AF-8904-B128EECE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24981"/>
            <a:ext cx="1628604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方法设计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E565E31-6DBC-4F9F-8247-514EE48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57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0C533E0C-0D96-4D54-8F46-AC9E4EC835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ba18ed4564f38">
            <a:extLst>
              <a:ext uri="{96DAC541-7B7A-43D3-8B79-37D633B846F1}">
                <asvg:svgBlip xmlns:asvg="http://schemas.microsoft.com/office/drawing/2016/SVG/main" r:embed="Reecb41950e724b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3CC9DCB-C479-4EC0-BAE1-700583905E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161545-35E5-4E3F-8C88-B273B37D2C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F4826BC-7E05-4296-9006-40E1D35D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9420E0C-8217-4B74-B982-F42BC6B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22B608C-ADFE-4DD7-A829-4EDEB579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E0C59BCE-C133-47AA-9B79-2A095469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内容页-标题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070FF8-6EEE-4ADA-A169-09437211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EF0E6EB-1AA7-424D-94BE-4EDB426F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CDA536B-BADD-465E-9C93-778C0AEC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2BC21E7B-E643-4CD5-9312-11DE1FE9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24210CA-FB6F-419E-9549-2072625D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4BC42B8-1511-45C6-BA0D-0B9ADF56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B50D442E-E22F-442D-900E-B00DBD3492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48ea63a454e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7023183-E613-4466-BCD0-91036D48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969F268A-D69E-4B0D-9D75-F18567358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62a08cd944881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A712E47-491C-43C8-B1B9-658F0C09799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1FCD6DC7-137C-4972-9404-BACF49E9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134" y="124981"/>
            <a:ext cx="1843576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背景与意义</a:t>
            </a:r>
            <a:endParaRPr sz="1500" b="1">
              <a:solidFill>
                <a:schemeClr val="accent1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F0617C39-AC13-43F1-9E80-E557DF2E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554EE952-948A-4213-B499-7433F62F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083408E-89AA-47B9-8E2C-7240D2E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79AE4744-FB78-476D-82FC-8D4C88AB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9C03EDCF-B5D8-4CAD-955B-DB48D0BA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42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BD718187-7110-4409-B2CD-068F25A01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ae00e435249aa">
            <a:extLst>
              <a:ext uri="{96DAC541-7B7A-43D3-8B79-37D633B846F1}">
                <asvg:svgBlip xmlns:asvg="http://schemas.microsoft.com/office/drawing/2016/SVG/main" r:embed="R57452935c2e7427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84DC0F6-F2F3-4974-87A1-9DD22D5CE0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2BA1DB-4657-4B24-B2C4-27F9CF23ED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内容页-标题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F05ED6-D59A-4926-8E4A-0BCEE390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16F595BB-4506-47EC-9035-D347733E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B9142161-11D0-47D7-82C6-AA615E1D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D3E02C92-7CFE-4FB2-959B-0D40C7B4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AB3790B-752E-4EE7-A6F7-661DD677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5A1679A-F518-40CD-9097-4F6ED828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7B5A1B89-1B9D-4DF3-9AF5-C9F4B18B02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5ae00deda4a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F2CCAC-FB42-412D-BE33-AB0FC8FF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70021F33-02EE-433C-AF43-F947D55B2C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52d7b407e4e4d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0CC15EFC-916A-47E5-BD8B-45EFD38CEB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994F0D1-743E-42E4-B819-B8861CF9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50E3AA7B-74A6-4265-918E-2383F4FB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643" y="124981"/>
            <a:ext cx="1843576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目标与内容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C42D16A0-83B2-47B3-9F40-0BC2E71B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9196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0B048BC0-3F07-4B22-AB17-1AB8449D46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cea733d574679">
            <a:extLst>
              <a:ext uri="{96DAC541-7B7A-43D3-8B79-37D633B846F1}">
                <asvg:svgBlip xmlns:asvg="http://schemas.microsoft.com/office/drawing/2016/SVG/main" r:embed="R3100e780bcee4b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713058-70F6-486C-B720-64FA3C7D46E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C87080-C44B-4FE9-A67C-5F25419ADE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A2B74C9-AFC5-4A80-B793-700EADAF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16D6ED99-A3CE-498F-A355-B7088C1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3063DD2-78B5-4F4F-A784-638482C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内容页-标题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6F452F2-1EED-4120-9044-E021FBD3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C347E69-0241-49DE-A86E-70C1F65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65EF597-3922-499D-8D67-7F7DBEF5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90014DC2-5A98-4BAA-84F5-33D8035D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A8B8E9D-44D0-4C23-AA23-D01FB0F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35B5A31-18AE-48EA-8A13-F2170E99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27456A11-3732-4CB0-AB19-3C412A84D0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b495866314c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FD828C3-F993-4DB8-976B-9DF610C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B770DDCC-DD1D-4CD7-B83A-60199016A9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4764b94e54574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CC2D482-5DF2-45C2-9C41-3080B0B7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24981"/>
            <a:ext cx="1628604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方法设计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456576CB-0052-4926-BA67-D78E4712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057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7188C0F9-C9F5-4E27-9A65-C16676F5B7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2254f91984cc7">
            <a:extLst>
              <a:ext uri="{96DAC541-7B7A-43D3-8B79-37D633B846F1}">
                <asvg:svgBlip xmlns:asvg="http://schemas.microsoft.com/office/drawing/2016/SVG/main" r:embed="R4d1a8f7794b043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4BA8130-F7F1-4CDE-B070-D7A0856FA0E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867F048-3D88-4246-98ED-472BBA16DC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D32A7FE1-DD33-41B5-A095-148053C8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E3ABCCB8-C4C3-4C89-A9F3-7A627B45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029E092-159D-4F09-955A-9093C40F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8D1D75A-1BEE-481A-9970-484F6E4E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内容页-标题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A53739-4205-4016-9503-8149E04A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12D4632-62F9-40C9-9172-8AF7780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6A0B953-5C37-47DD-A54C-7C4C79CA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3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701074A-5411-4480-BB8C-68CB2D03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41CD2CF6-0FCF-4C10-8F48-57FC982D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A310C0D-F1D6-489D-9CBB-E5639B1B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718CB519-C78C-42F9-9E2C-F0ED787D5A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7d9200ffb49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B89C85-486A-4D08-8F47-110C6CBB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43919613-4E71-49E4-B3F5-07EC58571E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75d7b9d064aae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5026C3B0-D00F-41EA-A39E-A316FA89A33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5492713-C3B9-4145-A940-D502EE73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068" y="124981"/>
            <a:ext cx="1826762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实验评估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F81FCFA2-0437-4EDB-9681-01DE71AF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503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DC7D77CE-343E-42EE-B5A6-E3204F5AEA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f9906909a4d5a">
            <a:extLst>
              <a:ext uri="{96DAC541-7B7A-43D3-8B79-37D633B846F1}">
                <asvg:svgBlip xmlns:asvg="http://schemas.microsoft.com/office/drawing/2016/SVG/main" r:embed="R4b0be0364a034e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0385C8-C2B4-4790-8722-46E346A47E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E5DE88-3768-4E2D-AF94-2D88F5363EB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2815251-FEE3-4ED5-826C-A92888E1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原型工具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B6889373-26B7-4826-BA27-15BD96FA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01DB172-B625-4895-B1AB-745C17D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6101564-3400-4EDA-B31E-68231B57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内容页-标题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5B33BB-6C78-457B-86A7-63E564C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7358876-1540-4A7C-ACAB-93E6246E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6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7B95130-7E44-4ABE-85B2-68BC163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645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F453399-464F-4B94-B7F4-8B26C74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237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8498E6A-4B56-4962-98CE-C9989D89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438" y="0"/>
            <a:ext cx="1854000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5DA5B9-ECBB-4362-9A25-F1EB4979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5B6ECEE5-8696-4882-B5B8-2EC205428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8a25f2ed3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08082DE-A065-49FA-A9A5-A67B97CE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D2439654-8670-452B-B581-03A6495DD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6beb83dad408b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E6490969-D09B-4A78-A00B-5EB3104D92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E5CD300-FCE0-47BF-A0D5-046A42F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656" y="124981"/>
            <a:ext cx="1628604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原型工具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5F278C3C-E54D-4365-8BAA-0511A5A8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773" y="563601"/>
            <a:ext cx="1854000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C9E2660E-1581-4269-8A58-1A203148C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6a06e5bf9464b">
            <a:extLst>
              <a:ext uri="{96DAC541-7B7A-43D3-8B79-37D633B846F1}">
                <asvg:svgBlip xmlns:asvg="http://schemas.microsoft.com/office/drawing/2016/SVG/main" r:embed="R8da4f9d1c91b4a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DA077DE-7AEA-4DB0-9FD7-C307A2BC503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E307DC-2D4F-48D1-B277-F4CC29BF23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A4753E8-7D25-4A3D-A6EE-91821E18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147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实验评估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C02836D-8718-4B0F-8125-EC71F2D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129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目标与内容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009521D-D1DC-4DF3-AFC3-585EEBCC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620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背景与意义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BA94BC0F-5663-4B21-8560-D78378D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38" y="140369"/>
            <a:ext cx="1628604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chemeClr val="accent1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方法设计</a:t>
            </a:r>
            <a:endParaRPr sz="1300" b="0">
              <a:solidFill>
                <a:schemeClr val="accent1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内容页-总结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1E8209FE-DB97-4E1C-BAFF-21D5A44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0"/>
            <a:ext cx="9267805" cy="57312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5EB90BF-0441-40EA-9F84-F580E9F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4884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D7287A60-60BB-482A-8801-7FD37BB1E7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9ce7d80f043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358" y="105361"/>
            <a:ext cx="1684124" cy="362406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798BE03-ACE6-4642-921B-AA145180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8840" y="0"/>
            <a:ext cx="773160" cy="573126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108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" name="图片 3">
            <a:extLst xmlns:a="http://schemas.openxmlformats.org/drawingml/2006/main">
              <a:ext uri="{FF2B5EF4-FFF2-40B4-BE49-F238E27FC236}">
                <a16:creationId xmlns:a16="http://schemas.microsoft.com/office/drawing/2014/main" id="{0F207F2D-F39C-4827-940D-845146079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6e36c18014a6d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8C92078-9F3D-4897-81DE-D0343304FB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35393" y="926637"/>
            <a:ext cx="11321214" cy="401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页标题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6C18E5C4-EA10-4A0F-99DF-CA86D613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219" y="124981"/>
            <a:ext cx="9064041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 algn="ctr">
              <a:buNone/>
              <a:defRPr sz="1500" b="1">
                <a:solidFill>
                  <a:schemeClr val="accent1">
                    <a:lumMod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总结与展望</a:t>
            </a: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3A3B9176-1405-4EE3-8D1C-F88880E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63601"/>
            <a:ext cx="9269933" cy="0"/>
          </a:xfrm>
          <a:prstGeom xmlns:a="http://schemas.openxmlformats.org/drawingml/2006/main" prst="line">
            <a:avLst/>
          </a:prstGeom>
          <a:ln xmlns:a="http://schemas.openxmlformats.org/drawingml/2006/main" w="1905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47" name="图形 46">
            <a:extLst xmlns:a="http://schemas.openxmlformats.org/drawingml/2006/main">
              <a:ext uri="{FF2B5EF4-FFF2-40B4-BE49-F238E27FC236}">
                <a16:creationId xmlns:a16="http://schemas.microsoft.com/office/drawing/2014/main" id="{17EEF631-EEBD-4D49-B033-B59F779E3D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4e0512f3247e8">
            <a:extLst>
              <a:ext uri="{96DAC541-7B7A-43D3-8B79-37D633B846F1}">
                <asvg:svgBlip xmlns:asvg="http://schemas.microsoft.com/office/drawing/2016/SVG/main" r:embed="R66744ef2f3c441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43837" y="124980"/>
            <a:ext cx="323166" cy="323166"/>
          </a:xfrm>
          <a:prstGeom xmlns:a="http://schemas.openxmlformats.org/drawingml/2006/main" prst="rect">
            <a:avLst/>
          </a:prstGeom>
        </p:spPr>
      </p:pic>
      <p:sp>
        <p:nvSpPr>
          <p:cNvPr id="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02FA2AC-012E-42A1-A6CD-BC35CC0750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35394" y="635634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E5B4FE-3F30-4FEB-80CD-99287D207A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013408" y="6352506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空白版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2BA1367A-F69D-4245-8F89-6DC714D82C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366b363254246">
            <a:alphaModFix amt="3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568763"/>
            <a:ext cx="12192000" cy="2289237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29c85e802b4249" /><Relationship Type="http://schemas.openxmlformats.org/officeDocument/2006/relationships/slideLayout" Target="/ppt/slideLayouts/slideLayout1.xml" Id="R936e3a91545c46e6" /><Relationship Type="http://schemas.openxmlformats.org/officeDocument/2006/relationships/slideLayout" Target="/ppt/slideLayouts/slideLayout2.xml" Id="R9595a00d20714403" /><Relationship Type="http://schemas.openxmlformats.org/officeDocument/2006/relationships/slideLayout" Target="/ppt/slideLayouts/slideLayout3.xml" Id="R2aef01acfb564666" /><Relationship Type="http://schemas.openxmlformats.org/officeDocument/2006/relationships/slideLayout" Target="/ppt/slideLayouts/slideLayout4.xml" Id="R84aca4509be94f71" /><Relationship Type="http://schemas.openxmlformats.org/officeDocument/2006/relationships/slideLayout" Target="/ppt/slideLayouts/slideLayout5.xml" Id="Rc1e345b5d76a47e4" /><Relationship Type="http://schemas.openxmlformats.org/officeDocument/2006/relationships/slideLayout" Target="/ppt/slideLayouts/slideLayout6.xml" Id="R60d309cba5e940b0" /><Relationship Type="http://schemas.openxmlformats.org/officeDocument/2006/relationships/slideLayout" Target="/ppt/slideLayouts/slideLayout7.xml" Id="Rd6deebe1f85047bf" /><Relationship Type="http://schemas.openxmlformats.org/officeDocument/2006/relationships/slideLayout" Target="/ppt/slideLayouts/slideLayout8.xml" Id="Rce4258d658244364" /><Relationship Type="http://schemas.openxmlformats.org/officeDocument/2006/relationships/slideLayout" Target="/ppt/slideLayouts/slideLayout9.xml" Id="R001697cf752644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6e3a91545c46e6"/>
    <p:sldLayoutId xmlns:r="http://schemas.openxmlformats.org/officeDocument/2006/relationships" id="2147483650" r:id="R9595a00d20714403"/>
    <p:sldLayoutId xmlns:r="http://schemas.openxmlformats.org/officeDocument/2006/relationships" id="2147483651" r:id="R2aef01acfb564666"/>
    <p:sldLayoutId xmlns:r="http://schemas.openxmlformats.org/officeDocument/2006/relationships" id="2147483652" r:id="R84aca4509be94f71"/>
    <p:sldLayoutId xmlns:r="http://schemas.openxmlformats.org/officeDocument/2006/relationships" id="2147483653" r:id="Rc1e345b5d76a47e4"/>
    <p:sldLayoutId xmlns:r="http://schemas.openxmlformats.org/officeDocument/2006/relationships" id="2147483654" r:id="R60d309cba5e940b0"/>
    <p:sldLayoutId xmlns:r="http://schemas.openxmlformats.org/officeDocument/2006/relationships" id="2147483655" r:id="Rd6deebe1f85047bf"/>
    <p:sldLayoutId xmlns:r="http://schemas.openxmlformats.org/officeDocument/2006/relationships" id="2147483656" r:id="Rce4258d658244364"/>
    <p:sldLayoutId xmlns:r="http://schemas.openxmlformats.org/officeDocument/2006/relationships" id="2147483657" r:id="R001697cf75264403"/>
  </p:sldLayoutIdLst>
  <p:hf hdr="0" ftr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b85442c7d4cc3" /><Relationship Type="http://schemas.openxmlformats.org/officeDocument/2006/relationships/notesSlide" Target="/ppt/notesSlides/notesSlide1.xml" Id="Rbe959694cacb4e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3ce56a9aee745ea" /><Relationship Type="http://schemas.openxmlformats.org/officeDocument/2006/relationships/notesSlide" Target="/ppt/notesSlides/notesSlide2.xml" Id="R021808c57ff74a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f722e84f2d4152" /><Relationship Type="http://schemas.openxmlformats.org/officeDocument/2006/relationships/notesSlide" Target="/ppt/notesSlides/notesSlide3.xml" Id="Rdc7405b7b16d44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5b8984b3f04cae" /><Relationship Type="http://schemas.openxmlformats.org/officeDocument/2006/relationships/notesSlide" Target="/ppt/notesSlides/notesSlide4.xml" Id="Re9f821683b0a4d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5042c1b22a431b" /><Relationship Type="http://schemas.openxmlformats.org/officeDocument/2006/relationships/notesSlide" Target="/ppt/notesSlides/notesSlide5.xml" Id="R4da527c0354145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00c43f2ba342ce" /><Relationship Type="http://schemas.openxmlformats.org/officeDocument/2006/relationships/notesSlide" Target="/ppt/notesSlides/notesSlide6.xml" Id="R29b10e72a58a43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0ff425ef7049fb" /><Relationship Type="http://schemas.openxmlformats.org/officeDocument/2006/relationships/notesSlide" Target="/ppt/notesSlides/notesSlide7.xml" Id="R5d894f0b48cd47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056ceb32e74110" /><Relationship Type="http://schemas.openxmlformats.org/officeDocument/2006/relationships/notesSlide" Target="/ppt/notesSlides/notesSlide8.xml" Id="Rbf9938da94a143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b8a29832b46b2" /><Relationship Type="http://schemas.openxmlformats.org/officeDocument/2006/relationships/notesSlide" Target="/ppt/notesSlides/notesSlide9.xml" Id="R84492839e76447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dc87830ec9045de" /><Relationship Type="http://schemas.openxmlformats.org/officeDocument/2006/relationships/notesSlide" Target="/ppt/notesSlides/notesSlide10.xml" Id="Rc33dd96f39c642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5">
            <a:extLst xmlns:a="http://schemas.openxmlformats.org/drawingml/2006/main">
              <a:ext uri="{FF2B5EF4-FFF2-40B4-BE49-F238E27FC236}">
                <a16:creationId xmlns:a16="http://schemas.microsoft.com/office/drawing/2014/main" id="{EDBC9017-FB79-4E02-BAF1-229A9F29291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200" y="1685925"/>
            <a:ext cx="105156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buNone/>
              <a:defRPr sz="36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面向仓库级程序修复的</a:t>
            </a:r>
          </a:p>
          <a:p xmlns:a="http://schemas.openxmlformats.org/drawingml/2006/main">
            <a:pPr algn="ctr">
              <a:def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自适应混合架构</a:t>
            </a:r>
          </a:p>
        </p:txBody>
      </p:sp>
      <p:sp>
        <p:nvSpPr>
          <p:cNvPr id="2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509DE473-0494-4DBB-AE5A-2D48ED720DC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571750" y="4048125"/>
            <a:ext cx="7048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marL="0" indent="0" algn="ctr">
              <a:buNone/>
              <a:defRPr sz="200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lvl="0" algn="ctr">
              <a:buNone/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开题对齐与离线验证进展</a:t>
            </a:r>
          </a:p>
          <a:p xmlns:a="http://schemas.openxmlformats.org/drawingml/2006/main">
            <a:pPr lvl="0" algn="ctr">
              <a:buNone/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汇报人：陈堉锋　张曹远臻</a:t>
            </a:r>
          </a:p>
          <a:p xmlns:a="http://schemas.openxmlformats.org/drawingml/2006/main">
            <a:pPr lvl="0" algn="ctr">
              <a:buNone/>
              <a:def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2026 年 10 月 29 日</a:t>
            </a:r>
          </a:p>
        </p:txBody>
      </p:sp>
    </p:spTree>
    <p:extLst>
      <p:ext uri="{BB962C8B-B14F-4D97-AF65-F5344CB8AC3E}">
        <p14:creationId xmlns:p14="http://schemas.microsoft.com/office/powerpoint/2010/main" val="12944791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标题 4">
            <a:extLst xmlns:a="http://schemas.openxmlformats.org/drawingml/2006/main">
              <a:ext uri="{FF2B5EF4-FFF2-40B4-BE49-F238E27FC236}">
                <a16:creationId xmlns:a16="http://schemas.microsoft.com/office/drawing/2014/main" id="{0CC15EFC-916A-47E5-BD8B-45EFD38CEB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本轮目标与完成范围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B73D2A-270F-4992-B8FA-86560EB3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02 / 10</a:t>
            </a:r>
          </a:p>
        </p:txBody>
      </p:sp>
      <p:sp>
        <p:nvSpPr>
          <p:cNvPr id="3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A3051DAB-C641-4056-A6B2-D935907E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失败证据能否帮助选择更合适的修复模式？</a:t>
            </a:r>
          </a:p>
        </p:txBody>
      </p:sp>
      <p:sp>
        <p:nvSpPr>
          <p:cNvPr id="4" name="comparison-condition">
            <a:extLst xmlns:a="http://schemas.openxmlformats.org/drawingml/2006/main">
              <a:ext uri="{FF2B5EF4-FFF2-40B4-BE49-F238E27FC236}">
                <a16:creationId xmlns:a16="http://schemas.microsoft.com/office/drawing/2014/main" id="{579A00E1-FC93-4F8B-916A-873F7C1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比较条件：同模型、同初始信息、同资源上限</a:t>
            </a:r>
          </a:p>
        </p:txBody>
      </p:sp>
      <p:sp>
        <p:nvSpPr>
          <p:cNvPr id="5" name="label-337">
            <a:extLst xmlns:a="http://schemas.openxmlformats.org/drawingml/2006/main">
              <a:ext uri="{FF2B5EF4-FFF2-40B4-BE49-F238E27FC236}">
                <a16:creationId xmlns:a16="http://schemas.microsoft.com/office/drawing/2014/main" id="{ABBA9A35-2964-41B5-BA59-85C039B6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992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本轮已完成</a:t>
            </a:r>
          </a:p>
        </p:txBody>
      </p:sp>
      <p:sp>
        <p:nvSpPr>
          <p:cNvPr id="6" name="detail-337">
            <a:extLst xmlns:a="http://schemas.openxmlformats.org/drawingml/2006/main">
              <a:ext uri="{FF2B5EF4-FFF2-40B4-BE49-F238E27FC236}">
                <a16:creationId xmlns:a16="http://schemas.microsoft.com/office/drawing/2014/main" id="{7B8232B6-5D0F-4BE8-9648-1B561DF0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执行约束修复、原始证据保护、历史统计重算、实验交接文档</a:t>
            </a:r>
          </a:p>
        </p:txBody>
      </p:sp>
      <p:sp>
        <p:nvSpPr>
          <p:cNvPr id="7" name="label-470">
            <a:extLst xmlns:a="http://schemas.openxmlformats.org/drawingml/2006/main">
              <a:ext uri="{FF2B5EF4-FFF2-40B4-BE49-F238E27FC236}">
                <a16:creationId xmlns:a16="http://schemas.microsoft.com/office/drawing/2014/main" id="{87B53CFE-9B26-49DC-8B20-A6E1D0F0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下一阶段待验证</a:t>
            </a:r>
          </a:p>
        </p:txBody>
      </p:sp>
      <p:sp>
        <p:nvSpPr>
          <p:cNvPr id="8" name="detail-470">
            <a:extLst xmlns:a="http://schemas.openxmlformats.org/drawingml/2006/main">
              <a:ext uri="{FF2B5EF4-FFF2-40B4-BE49-F238E27FC236}">
                <a16:creationId xmlns:a16="http://schemas.microsoft.com/office/drawing/2014/main" id="{6626FC82-0B52-476C-B8E9-3FBDFF44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真实集成、开发集校准、正式重复实验、消融与人工审查</a:t>
            </a:r>
          </a:p>
        </p:txBody>
      </p:sp>
      <p:sp>
        <p:nvSpPr>
          <p:cNvPr id="9" name="negative-result">
            <a:extLst xmlns:a="http://schemas.openxmlformats.org/drawingml/2006/main">
              <a:ext uri="{FF2B5EF4-FFF2-40B4-BE49-F238E27FC236}">
                <a16:creationId xmlns:a16="http://schemas.microsoft.com/office/drawing/2014/main" id="{8B37082A-AB46-4DB8-B81C-DBDE963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允许负结果，路由收益由受控实验检验</a:t>
            </a:r>
          </a:p>
        </p:txBody>
      </p:sp>
    </p:spTree>
    <p:extLst>
      <p:ext uri="{BB962C8B-B14F-4D97-AF65-F5344CB8AC3E}">
        <p14:creationId xmlns:p14="http://schemas.microsoft.com/office/powerpoint/2010/main" val="3731657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原流程与开题要求的差距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DD97C5-BBCF-4D0F-9A15-1685F69C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03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49874-E55F-41AC-9D0F-FA789C26A8A2}"/>
              </a:ext>
            </a:extLst>
          </p:cNvPr>
          <p:cNvGraphicFramePr/>
          <p:nvPr/>
        </p:nvGraphicFramePr>
        <p:xfrm>
          <a:off xmlns:a="http://schemas.openxmlformats.org/drawingml/2006/main" x="571500" y="177165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24000"/>
                <a:gridCol w="4762500"/>
                <a:gridCol w="4762500"/>
              </a:tblGrid>
              <a:tr h="5524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原流程问题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本轮修正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无行为信号默认升级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证据不足保守固定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配对起点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固定新候选串入交互提示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序列化快照独立恢复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收尾和多工具请求可能越限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调用前预检并持续记账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9532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 C 与无条件 ESC 混用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按真实决策分别评分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why-it-matters">
            <a:extLst xmlns:a="http://schemas.openxmlformats.org/drawingml/2006/main">
              <a:ext uri="{FF2B5EF4-FFF2-40B4-BE49-F238E27FC236}">
                <a16:creationId xmlns:a16="http://schemas.microsoft.com/office/drawing/2014/main" id="{F1EB72B0-DA9A-482F-A5A4-2A598FA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这些修正决定实验能否回答开题问题，效果比较留待新实验</a:t>
            </a:r>
          </a:p>
        </p:txBody>
      </p:sp>
    </p:spTree>
    <p:extLst>
      <p:ext uri="{BB962C8B-B14F-4D97-AF65-F5344CB8AC3E}">
        <p14:creationId xmlns:p14="http://schemas.microsoft.com/office/powerpoint/2010/main" val="21169370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同一前缀下的两种运行模式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D63E09-F4C5-484C-B3FE-F0E03D9B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04 / 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EBD96-11B3-492E-AF70-6809FA1C026B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24000"/>
                <a:gridCol w="4762500"/>
                <a:gridCol w="4762500"/>
              </a:tblGrid>
              <a:tr h="56197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正式运行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配对诊断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执行对象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路由选中的一个延续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可继续失败上的两条延续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起点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A/C/D/E 复用同一实际前缀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固定与交互各恢复独立快照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资源计入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策略计入完整前缀开销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两分支获得相同剩余额度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0485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分析用途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方法解决率与策略成本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升级价值与路由误判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ranch-boundary">
            <a:extLst xmlns:a="http://schemas.openxmlformats.org/drawingml/2006/main">
              <a:ext uri="{FF2B5EF4-FFF2-40B4-BE49-F238E27FC236}">
                <a16:creationId xmlns:a16="http://schemas.microsoft.com/office/drawing/2014/main" id="{E78E4A47-7E4F-4976-83C0-E4AB51CC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固定分支的新候选不能进入交互分支输入</a:t>
            </a:r>
          </a:p>
        </p:txBody>
      </p:sp>
      <p:sp>
        <p:nvSpPr>
          <p:cNvPr id="5" name="cost-boundary">
            <a:extLst xmlns:a="http://schemas.openxmlformats.org/drawingml/2006/main">
              <a:ext uri="{FF2B5EF4-FFF2-40B4-BE49-F238E27FC236}">
                <a16:creationId xmlns:a16="http://schemas.microsoft.com/office/drawing/2014/main" id="{AF196E4F-E3DF-419E-A147-D833A72E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双分支采集开销单独记录，避免混入部署策略成本</a:t>
            </a:r>
          </a:p>
        </p:txBody>
      </p:sp>
    </p:spTree>
    <p:extLst>
      <p:ext uri="{BB962C8B-B14F-4D97-AF65-F5344CB8AC3E}">
        <p14:creationId xmlns:p14="http://schemas.microsoft.com/office/powerpoint/2010/main" val="7161795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 4">
            <a:extLst xmlns:a="http://schemas.openxmlformats.org/drawingml/2006/main">
              <a:ext uri="{FF2B5EF4-FFF2-40B4-BE49-F238E27FC236}">
                <a16:creationId xmlns:a16="http://schemas.microsoft.com/office/drawing/2014/main" id="{768B784A-7215-4AF4-9F60-8E6165EDE35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路由与候选选择的修正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F2D9BE-741A-414E-B9C7-A9BFF4DA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05 / 10</a:t>
            </a:r>
          </a:p>
        </p:txBody>
      </p:sp>
      <p:sp>
        <p:nvSpPr>
          <p:cNvPr id="3" name="route-label-0">
            <a:extLst xmlns:a="http://schemas.openxmlformats.org/drawingml/2006/main">
              <a:ext uri="{FF2B5EF4-FFF2-40B4-BE49-F238E27FC236}">
                <a16:creationId xmlns:a16="http://schemas.microsoft.com/office/drawing/2014/main" id="{AAD6D32B-27DC-4E68-B421-D9B1C51F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固定延续</a:t>
            </a:r>
          </a:p>
        </p:txBody>
      </p:sp>
      <p:sp>
        <p:nvSpPr>
          <p:cNvPr id="4" name="route-body-0">
            <a:extLst xmlns:a="http://schemas.openxmlformats.org/drawingml/2006/main">
              <a:ext uri="{FF2B5EF4-FFF2-40B4-BE49-F238E27FC236}">
                <a16:creationId xmlns:a16="http://schemas.microsoft.com/office/drawing/2014/main" id="{00F6F6D5-A5B7-494A-A331-9B78AB6D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478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证据不足，或局部应用、语法问题尚可修正</a:t>
            </a:r>
          </a:p>
        </p:txBody>
      </p:sp>
      <p:sp>
        <p:nvSpPr>
          <p:cNvPr id="5" name="route-label-1">
            <a:extLst xmlns:a="http://schemas.openxmlformats.org/drawingml/2006/main">
              <a:ext uri="{FF2B5EF4-FFF2-40B4-BE49-F238E27FC236}">
                <a16:creationId xmlns:a16="http://schemas.microsoft.com/office/drawing/2014/main" id="{EE188E3D-D07B-46AA-90F2-50C8D91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交互延续</a:t>
            </a:r>
          </a:p>
        </p:txBody>
      </p:sp>
      <p:sp>
        <p:nvSpPr>
          <p:cNvPr id="6" name="route-body-1">
            <a:extLst xmlns:a="http://schemas.openxmlformats.org/drawingml/2006/main">
              <a:ext uri="{FF2B5EF4-FFF2-40B4-BE49-F238E27FC236}">
                <a16:creationId xmlns:a16="http://schemas.microsoft.com/office/drawing/2014/main" id="{395B473C-EB78-417F-82FD-281363F5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明显定位分歧、重复候选或新的范围外源码证据</a:t>
            </a:r>
          </a:p>
        </p:txBody>
      </p:sp>
      <p:sp>
        <p:nvSpPr>
          <p:cNvPr id="7" name="route-label-2">
            <a:extLst xmlns:a="http://schemas.openxmlformats.org/drawingml/2006/main">
              <a:ext uri="{FF2B5EF4-FFF2-40B4-BE49-F238E27FC236}">
                <a16:creationId xmlns:a16="http://schemas.microsoft.com/office/drawing/2014/main" id="{E5327494-D3D4-499F-9BA9-5EE5ED11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统一停止</a:t>
            </a:r>
          </a:p>
        </p:txBody>
      </p:sp>
      <p:sp>
        <p:nvSpPr>
          <p:cNvPr id="8" name="route-body-2">
            <a:extLst xmlns:a="http://schemas.openxmlformats.org/drawingml/2006/main">
              <a:ext uri="{FF2B5EF4-FFF2-40B4-BE49-F238E27FC236}">
                <a16:creationId xmlns:a16="http://schemas.microsoft.com/office/drawing/2014/main" id="{221E7EA6-FE13-488D-9F4C-168DA7AA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528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硬预算、不可恢复环境故障或已有公开通过候选</a:t>
            </a:r>
          </a:p>
        </p:txBody>
      </p:sp>
      <p:sp>
        <p:nvSpPr>
          <p:cNvPr id="9" name="route-label-3">
            <a:extLst xmlns:a="http://schemas.openxmlformats.org/drawingml/2006/main">
              <a:ext uri="{FF2B5EF4-FFF2-40B4-BE49-F238E27FC236}">
                <a16:creationId xmlns:a16="http://schemas.microsoft.com/office/drawing/2014/main" id="{F25109EE-8D63-45EC-BDA7-893DA645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提交筛选</a:t>
            </a:r>
          </a:p>
        </p:txBody>
      </p:sp>
      <p:sp>
        <p:nvSpPr>
          <p:cNvPr id="10" name="route-body-3">
            <a:extLst xmlns:a="http://schemas.openxmlformats.org/drawingml/2006/main">
              <a:ext uri="{FF2B5EF4-FFF2-40B4-BE49-F238E27FC236}">
                <a16:creationId xmlns:a16="http://schemas.microsoft.com/office/drawing/2014/main" id="{3CC7B981-AE4B-4D0F-BD91-D758877C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可应用、语法有效、范围合法，并保留此前有效候选</a:t>
            </a:r>
          </a:p>
        </p:txBody>
      </p:sp>
      <p:sp>
        <p:nvSpPr>
          <p:cNvPr id="11" name="candidate-disclosure">
            <a:extLst xmlns:a="http://schemas.openxmlformats.org/drawingml/2006/main">
              <a:ext uri="{FF2B5EF4-FFF2-40B4-BE49-F238E27FC236}">
                <a16:creationId xmlns:a16="http://schemas.microsoft.com/office/drawing/2014/main" id="{2168F7F5-B2BE-4AE1-980A-B46E5E91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公开测试通过只用于候选选择，最终结果由独立评测判断</a:t>
            </a:r>
          </a:p>
        </p:txBody>
      </p:sp>
    </p:spTree>
    <p:extLst>
      <p:ext uri="{BB962C8B-B14F-4D97-AF65-F5344CB8AC3E}">
        <p14:creationId xmlns:p14="http://schemas.microsoft.com/office/powerpoint/2010/main" val="16514074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4">
            <a:extLst xmlns:a="http://schemas.openxmlformats.org/drawingml/2006/main">
              <a:ext uri="{FF2B5EF4-FFF2-40B4-BE49-F238E27FC236}">
                <a16:creationId xmlns:a16="http://schemas.microsoft.com/office/drawing/2014/main" id="{E6490969-D09B-4A78-A00B-5EB3104D92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预算贯穿前缀与交互执行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4B412E-4ACA-46CC-BED8-05260725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06 / 10</a:t>
            </a:r>
          </a:p>
        </p:txBody>
      </p:sp>
      <p:sp>
        <p:nvSpPr>
          <p:cNvPr id="3" name="budget-dimensions">
            <a:extLst xmlns:a="http://schemas.openxmlformats.org/drawingml/2006/main">
              <a:ext uri="{FF2B5EF4-FFF2-40B4-BE49-F238E27FC236}">
                <a16:creationId xmlns:a16="http://schemas.microsoft.com/office/drawing/2014/main" id="{AE2E137B-3DD0-4B1D-A036-4BE28DB6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累计 token　　实际请求　　工具执行　　墙钟时间</a:t>
            </a:r>
          </a:p>
        </p:txBody>
      </p:sp>
      <p:sp>
        <p:nvSpPr>
          <p:cNvPr id="4" name="budget-label-0">
            <a:extLst xmlns:a="http://schemas.openxmlformats.org/drawingml/2006/main">
              <a:ext uri="{FF2B5EF4-FFF2-40B4-BE49-F238E27FC236}">
                <a16:creationId xmlns:a16="http://schemas.microsoft.com/office/drawing/2014/main" id="{3D14A5D8-F5A9-431C-B961-69B39C4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717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前缀与失败</a:t>
            </a:r>
          </a:p>
        </p:txBody>
      </p:sp>
      <p:sp>
        <p:nvSpPr>
          <p:cNvPr id="5" name="budget-body-0">
            <a:extLst xmlns:a="http://schemas.openxmlformats.org/drawingml/2006/main">
              <a:ext uri="{FF2B5EF4-FFF2-40B4-BE49-F238E27FC236}">
                <a16:creationId xmlns:a16="http://schemas.microsoft.com/office/drawing/2014/main" id="{0B8C2ED8-74C6-4B1E-B2BB-703CD6A9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9082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前缀、失败请求、重试和验证均计入对应预算</a:t>
            </a:r>
          </a:p>
        </p:txBody>
      </p:sp>
      <p:sp>
        <p:nvSpPr>
          <p:cNvPr id="6" name="budget-label-1">
            <a:extLst xmlns:a="http://schemas.openxmlformats.org/drawingml/2006/main">
              <a:ext uri="{FF2B5EF4-FFF2-40B4-BE49-F238E27FC236}">
                <a16:creationId xmlns:a16="http://schemas.microsoft.com/office/drawing/2014/main" id="{7CD4A7B5-069D-4982-87C5-35F5F547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收尾与工具</a:t>
            </a:r>
          </a:p>
        </p:txBody>
      </p:sp>
      <p:sp>
        <p:nvSpPr>
          <p:cNvPr id="7" name="budget-body-1">
            <a:extLst xmlns:a="http://schemas.openxmlformats.org/drawingml/2006/main">
              <a:ext uri="{FF2B5EF4-FFF2-40B4-BE49-F238E27FC236}">
                <a16:creationId xmlns:a16="http://schemas.microsoft.com/office/drawing/2014/main" id="{8CE39447-B7EA-48DB-812F-4EC14E3B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2427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收尾调用占用原有额度，多工具回复逐项受限</a:t>
            </a:r>
          </a:p>
        </p:txBody>
      </p:sp>
      <p:sp>
        <p:nvSpPr>
          <p:cNvPr id="8" name="budget-label-2">
            <a:extLst xmlns:a="http://schemas.openxmlformats.org/drawingml/2006/main">
              <a:ext uri="{FF2B5EF4-FFF2-40B4-BE49-F238E27FC236}">
                <a16:creationId xmlns:a16="http://schemas.microsoft.com/office/drawing/2014/main" id="{E7E15654-A976-4B06-B12E-424765AF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缺失 usage</a:t>
            </a:r>
          </a:p>
        </p:txBody>
      </p:sp>
      <p:sp>
        <p:nvSpPr>
          <p:cNvPr id="9" name="budget-body-2">
            <a:extLst xmlns:a="http://schemas.openxmlformats.org/drawingml/2006/main">
              <a:ext uri="{FF2B5EF4-FFF2-40B4-BE49-F238E27FC236}">
                <a16:creationId xmlns:a16="http://schemas.microsoft.com/office/drawing/2014/main" id="{36F68E4C-1A6E-4949-AB6C-0E5D5582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57725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保守预留并标记未知，费用不冒称实付</a:t>
            </a:r>
          </a:p>
        </p:txBody>
      </p:sp>
      <p:sp>
        <p:nvSpPr>
          <p:cNvPr id="10" name="budget-status">
            <a:extLst xmlns:a="http://schemas.openxmlformats.org/drawingml/2006/main">
              <a:ext uri="{FF2B5EF4-FFF2-40B4-BE49-F238E27FC236}">
                <a16:creationId xmlns:a16="http://schemas.microsoft.com/office/drawing/2014/main" id="{0DE147EB-BEB4-4D9A-A296-F0888214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当前开发参数仅为安全限额，主实验预算仍待校准冻结</a:t>
            </a:r>
          </a:p>
        </p:txBody>
      </p:sp>
    </p:spTree>
    <p:extLst>
      <p:ext uri="{BB962C8B-B14F-4D97-AF65-F5344CB8AC3E}">
        <p14:creationId xmlns:p14="http://schemas.microsoft.com/office/powerpoint/2010/main" val="8296583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4">
            <a:extLst xmlns:a="http://schemas.openxmlformats.org/drawingml/2006/main">
              <a:ext uri="{FF2B5EF4-FFF2-40B4-BE49-F238E27FC236}">
                <a16:creationId xmlns:a16="http://schemas.microsoft.com/office/drawing/2014/main" id="{5026C3B0-D00F-41EA-A39E-A316FA89A33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历史 C/D 成本比较的更正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9A1D084-DAC3-4408-B802-B61BBB1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07 / 10</a:t>
            </a:r>
          </a:p>
        </p:txBody>
      </p:sp>
      <p:sp>
        <p:nvSpPr>
          <p:cNvPr id="3" name="historical-scope">
            <a:extLst xmlns:a="http://schemas.openxmlformats.org/drawingml/2006/main">
              <a:ext uri="{FF2B5EF4-FFF2-40B4-BE49-F238E27FC236}">
                <a16:creationId xmlns:a16="http://schemas.microsoft.com/office/drawing/2014/main" id="{32FE3D3B-7536-4A63-9B7D-D83D1E95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240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历史 v2.3 重算，7 个 dev 实例，单次运行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A80F-3AD1-49D3-8D4E-9830FF16185F}"/>
              </a:ext>
            </a:extLst>
          </p:cNvPr>
          <p:cNvGraphicFramePr/>
          <p:nvPr/>
        </p:nvGraphicFramePr>
        <p:xfrm>
          <a:off xmlns:a="http://schemas.openxmlformats.org/drawingml/2006/main" x="571500" y="2381250"/>
          <a:ext xmlns:a="http://schemas.openxmlformats.org/drawingml/2006/main" cx="11049000" cy="2114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2286000"/>
                <a:gridCol w="2286000"/>
                <a:gridCol w="3905250"/>
              </a:tblGrid>
              <a:tr h="609600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真实策略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升级次数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估算策略成本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T w="9525">
                      <a:solidFill>
                        <a:srgbClr val="D0D6DF"/>
                      </a:solidFill>
                      <a:prstDash val="solid"/>
                    </a:lnT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2F5597"/>
                    </a:solidFill>
                  </a:tcPr>
                </a:tc>
              </a:tr>
              <a:tr h="75247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简单级联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/ 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0.574337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52475"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2F559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 自适应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0D6DF"/>
                      </a:solidFill>
                      <a:prstDash val="solid"/>
                    </a:lnL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/ 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114300" rIns="133350" bIns="114300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0.574337 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0D6DF"/>
                      </a:solidFill>
                      <a:prstDash val="solid"/>
                    </a:lnR>
                    <a:lnB w="9525">
                      <a:solidFill>
                        <a:srgbClr val="D0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rrected-conclusion">
            <a:extLst xmlns:a="http://schemas.openxmlformats.org/drawingml/2006/main">
              <a:ext uri="{FF2B5EF4-FFF2-40B4-BE49-F238E27FC236}">
                <a16:creationId xmlns:a16="http://schemas.microsoft.com/office/drawing/2014/main" id="{8A3EF9C1-2991-4911-A706-CC620F34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rPr>
              <a:t>该样本中 C、D 同决策、同成本，不能声称 D 更省钱</a:t>
            </a:r>
          </a:p>
        </p:txBody>
      </p:sp>
      <p:sp>
        <p:nvSpPr>
          <p:cNvPr id="6" name="old-cost-definition">
            <a:extLst xmlns:a="http://schemas.openxmlformats.org/drawingml/2006/main">
              <a:ext uri="{FF2B5EF4-FFF2-40B4-BE49-F238E27FC236}">
                <a16:creationId xmlns:a16="http://schemas.microsoft.com/office/drawing/2014/main" id="{B9B54626-17F2-4812-965C-7F82D683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原 0.688450 元来自所有实例无条件交互升级（ESC）的另一种策略</a:t>
            </a:r>
          </a:p>
        </p:txBody>
      </p:sp>
      <p:sp>
        <p:nvSpPr>
          <p:cNvPr id="7" name="historical-limit">
            <a:extLst xmlns:a="http://schemas.openxmlformats.org/drawingml/2006/main">
              <a:ext uri="{FF2B5EF4-FFF2-40B4-BE49-F238E27FC236}">
                <a16:creationId xmlns:a16="http://schemas.microsoft.com/office/drawing/2014/main" id="{9ACEBFC0-0070-4B1E-B10E-1469687F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旧数据仅用于统计口径诊断，新方法效果尚未验证</a:t>
            </a:r>
          </a:p>
        </p:txBody>
      </p:sp>
    </p:spTree>
    <p:extLst>
      <p:ext uri="{BB962C8B-B14F-4D97-AF65-F5344CB8AC3E}">
        <p14:creationId xmlns:p14="http://schemas.microsoft.com/office/powerpoint/2010/main" val="146293069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题 4">
            <a:extLst xmlns:a="http://schemas.openxmlformats.org/drawingml/2006/main">
              <a:ext uri="{FF2B5EF4-FFF2-40B4-BE49-F238E27FC236}">
                <a16:creationId xmlns:a16="http://schemas.microsoft.com/office/drawing/2014/main" id="{E6490969-D09B-4A78-A00B-5EB3104D92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原始证据与新实验分开管理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EA43C6-B0F4-41C2-A12C-CADA90D3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08 / 10</a:t>
            </a:r>
          </a:p>
        </p:txBody>
      </p:sp>
      <p:sp>
        <p:nvSpPr>
          <p:cNvPr id="3" name="original-count">
            <a:extLst xmlns:a="http://schemas.openxmlformats.org/drawingml/2006/main">
              <a:ext uri="{FF2B5EF4-FFF2-40B4-BE49-F238E27FC236}">
                <a16:creationId xmlns:a16="http://schemas.microsoft.com/office/drawing/2014/main" id="{D6FD5689-2E7F-45A4-8F0E-8FF757B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93</a:t>
            </a:r>
          </a:p>
        </p:txBody>
      </p:sp>
      <p:sp>
        <p:nvSpPr>
          <p:cNvPr id="4" name="archive-count">
            <a:extLst xmlns:a="http://schemas.openxmlformats.org/drawingml/2006/main">
              <a:ext uri="{FF2B5EF4-FFF2-40B4-BE49-F238E27FC236}">
                <a16:creationId xmlns:a16="http://schemas.microsoft.com/office/drawing/2014/main" id="{FB99AEE4-D2FA-4980-9951-C9AE9E3B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131</a:t>
            </a:r>
          </a:p>
        </p:txBody>
      </p:sp>
      <p:sp>
        <p:nvSpPr>
          <p:cNvPr id="5" name="original-label">
            <a:extLst xmlns:a="http://schemas.openxmlformats.org/drawingml/2006/main">
              <a:ext uri="{FF2B5EF4-FFF2-40B4-BE49-F238E27FC236}">
                <a16:creationId xmlns:a16="http://schemas.microsoft.com/office/drawing/2014/main" id="{404B46B2-0C69-440D-BA7A-1146AD8A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原始数据与报告文件</a:t>
            </a:r>
          </a:p>
        </p:txBody>
      </p:sp>
      <p:sp>
        <p:nvSpPr>
          <p:cNvPr id="6" name="archive-label">
            <a:extLst xmlns:a="http://schemas.openxmlformats.org/drawingml/2006/main">
              <a:ext uri="{FF2B5EF4-FFF2-40B4-BE49-F238E27FC236}">
                <a16:creationId xmlns:a16="http://schemas.microsoft.com/office/drawing/2014/main" id="{DDBA6B84-972E-40B5-A388-8AAACF1E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527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归档原件</a:t>
            </a:r>
          </a:p>
        </p:txBody>
      </p:sp>
      <p:sp>
        <p:nvSpPr>
          <p:cNvPr id="7" name="original-hash">
            <a:extLst xmlns:a="http://schemas.openxmlformats.org/drawingml/2006/main">
              <a:ext uri="{FF2B5EF4-FFF2-40B4-BE49-F238E27FC236}">
                <a16:creationId xmlns:a16="http://schemas.microsoft.com/office/drawing/2014/main" id="{49B73A0B-192E-42B6-9BEF-9958EAA7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字节不变，哈希校验通过</a:t>
            </a:r>
          </a:p>
        </p:txBody>
      </p:sp>
      <p:sp>
        <p:nvSpPr>
          <p:cNvPr id="8" name="archive-hash">
            <a:extLst xmlns:a="http://schemas.openxmlformats.org/drawingml/2006/main">
              <a:ext uri="{FF2B5EF4-FFF2-40B4-BE49-F238E27FC236}">
                <a16:creationId xmlns:a16="http://schemas.microsoft.com/office/drawing/2014/main" id="{AEAA1EBA-08B1-4F12-B39E-0921155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旧实现、协议和交付物校验通过</a:t>
            </a:r>
          </a:p>
        </p:txBody>
      </p:sp>
      <p:sp>
        <p:nvSpPr>
          <p:cNvPr id="9" name="output-directory">
            <a:extLst xmlns:a="http://schemas.openxmlformats.org/drawingml/2006/main">
              <a:ext uri="{FF2B5EF4-FFF2-40B4-BE49-F238E27FC236}">
                <a16:creationId xmlns:a16="http://schemas.microsoft.com/office/drawing/2014/main" id="{9C9005D8-035F-4D41-9B4D-8958486C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新运行写入独立 runs 目录，已有 tag 拒绝覆盖</a:t>
            </a:r>
          </a:p>
        </p:txBody>
      </p:sp>
      <p:sp>
        <p:nvSpPr>
          <p:cNvPr id="10" name="population-note">
            <a:extLst xmlns:a="http://schemas.openxmlformats.org/drawingml/2006/main">
              <a:ext uri="{FF2B5EF4-FFF2-40B4-BE49-F238E27FC236}">
                <a16:creationId xmlns:a16="http://schemas.microsoft.com/office/drawing/2014/main" id="{60EBA883-BE48-4B3A-9F8E-188D9F91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历史 98 个 gold 通过案例仅表示环境覆盖</a:t>
            </a:r>
          </a:p>
          <a:p xmlns:a="http://schemas.openxmlformats.org/drawingml/2006/main">
            <a:pPr algn="l">
              <a:def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新主总体优先完整 test 300，或预注册的分层子集</a:t>
            </a:r>
          </a:p>
        </p:txBody>
      </p:sp>
      <p:sp>
        <p:nvSpPr>
          <p:cNvPr id="11" name="handoff-docs">
            <a:extLst xmlns:a="http://schemas.openxmlformats.org/drawingml/2006/main">
              <a:ext uri="{FF2B5EF4-FFF2-40B4-BE49-F238E27FC236}">
                <a16:creationId xmlns:a16="http://schemas.microsoft.com/office/drawing/2014/main" id="{3BAFE32E-76F4-4128-AFAE-8DD9D07A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实验协议与 AGENTS.md 已记录下一位实验 agent 的执行约束</a:t>
            </a:r>
          </a:p>
        </p:txBody>
      </p:sp>
    </p:spTree>
    <p:extLst>
      <p:ext uri="{BB962C8B-B14F-4D97-AF65-F5344CB8AC3E}">
        <p14:creationId xmlns:p14="http://schemas.microsoft.com/office/powerpoint/2010/main" val="6456198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4">
            <a:extLst xmlns:a="http://schemas.openxmlformats.org/drawingml/2006/main">
              <a:ext uri="{FF2B5EF4-FFF2-40B4-BE49-F238E27FC236}">
                <a16:creationId xmlns:a16="http://schemas.microsoft.com/office/drawing/2014/main" id="{5026C3B0-D00F-41EA-A39E-A316FA89A33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离线验证通过 222 项回归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0451AE-1959-4A38-8652-628689DF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09 / 10</a:t>
            </a:r>
          </a:p>
        </p:txBody>
      </p:sp>
      <p:sp>
        <p:nvSpPr>
          <p:cNvPr id="3" name="test-count">
            <a:extLst xmlns:a="http://schemas.openxmlformats.org/drawingml/2006/main">
              <a:ext uri="{FF2B5EF4-FFF2-40B4-BE49-F238E27FC236}">
                <a16:creationId xmlns:a16="http://schemas.microsoft.com/office/drawing/2014/main" id="{2F36F369-7BAA-4B94-8A00-C7AAC88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51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222 / 222</a:t>
            </a:r>
          </a:p>
        </p:txBody>
      </p:sp>
      <p:sp>
        <p:nvSpPr>
          <p:cNvPr id="4" name="test-count-unit">
            <a:extLst xmlns:a="http://schemas.openxmlformats.org/drawingml/2006/main">
              <a:ext uri="{FF2B5EF4-FFF2-40B4-BE49-F238E27FC236}">
                <a16:creationId xmlns:a16="http://schemas.microsoft.com/office/drawing/2014/main" id="{56A9FCD3-3AC7-4439-805A-C83B316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测试项全部通过</a:t>
            </a:r>
          </a:p>
        </p:txBody>
      </p:sp>
      <p:sp>
        <p:nvSpPr>
          <p:cNvPr id="5" name="fake-runtime">
            <a:extLst xmlns:a="http://schemas.openxmlformats.org/drawingml/2006/main">
              <a:ext uri="{FF2B5EF4-FFF2-40B4-BE49-F238E27FC236}">
                <a16:creationId xmlns:a16="http://schemas.microsoft.com/office/drawing/2014/main" id="{5DA7E40A-A435-43D9-B4F9-B1CF0372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假模型、假容器和纯逻辑回归</a:t>
            </a:r>
          </a:p>
        </p:txBody>
      </p:sp>
      <p:sp>
        <p:nvSpPr>
          <p:cNvPr id="6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C02248DD-5172-4E3E-A14F-E801176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已验证</a:t>
            </a:r>
          </a:p>
        </p:txBody>
      </p:sp>
      <p:sp>
        <p:nvSpPr>
          <p:cNvPr id="7" name="verified-body">
            <a:extLst xmlns:a="http://schemas.openxmlformats.org/drawingml/2006/main">
              <a:ext uri="{FF2B5EF4-FFF2-40B4-BE49-F238E27FC236}">
                <a16:creationId xmlns:a16="http://schemas.microsoft.com/office/drawing/2014/main" id="{2313E76E-0810-4025-80AE-BDD709A1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路由语义与快照隔离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预算边界、异常留痕和统计分母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默认计划不执行，未授权付费请求拒绝</a:t>
            </a:r>
          </a:p>
        </p:txBody>
      </p:sp>
      <p:sp>
        <p:nvSpPr>
          <p:cNvPr id="8" name="unverified-label">
            <a:extLst xmlns:a="http://schemas.openxmlformats.org/drawingml/2006/main">
              <a:ext uri="{FF2B5EF4-FFF2-40B4-BE49-F238E27FC236}">
                <a16:creationId xmlns:a16="http://schemas.microsoft.com/office/drawing/2014/main" id="{AC14B3A6-C19D-4EE5-B582-A0FE38E5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100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02A2A"/>
                </a:solidFill>
                <a:latin typeface="微软雅黑"/>
                <a:ea typeface="微软雅黑"/>
                <a:cs typeface="微软雅黑"/>
              </a:rPr>
              <a:t>未验证</a:t>
            </a:r>
          </a:p>
        </p:txBody>
      </p:sp>
      <p:sp>
        <p:nvSpPr>
          <p:cNvPr id="9" name="unverified-body">
            <a:extLst xmlns:a="http://schemas.openxmlformats.org/drawingml/2006/main">
              <a:ext uri="{FF2B5EF4-FFF2-40B4-BE49-F238E27FC236}">
                <a16:creationId xmlns:a16="http://schemas.microsoft.com/office/drawing/2014/main" id="{80B327CC-382C-4C5A-836D-461E57A9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真实模型兼容与容器公开测试</a:t>
            </a:r>
          </a:p>
          <a:p xmlns:a="http://schemas.openxmlformats.org/drawingml/2006/main">
            <a:pPr algn="l">
              <a:def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新方法的修复效果</a:t>
            </a:r>
          </a:p>
        </p:txBody>
      </p:sp>
      <p:sp>
        <p:nvSpPr>
          <p:cNvPr id="10" name="offline-scope">
            <a:extLst xmlns:a="http://schemas.openxmlformats.org/drawingml/2006/main">
              <a:ext uri="{FF2B5EF4-FFF2-40B4-BE49-F238E27FC236}">
                <a16:creationId xmlns:a16="http://schemas.microsoft.com/office/drawing/2014/main" id="{DEC726DC-914F-444C-A155-7D78A619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本轮未调用真实修复模型、Docker 或官方 harness</a:t>
            </a:r>
          </a:p>
        </p:txBody>
      </p:sp>
    </p:spTree>
    <p:extLst>
      <p:ext uri="{BB962C8B-B14F-4D97-AF65-F5344CB8AC3E}">
        <p14:creationId xmlns:p14="http://schemas.microsoft.com/office/powerpoint/2010/main" val="18299167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标题 4">
            <a:extLst xmlns:a="http://schemas.openxmlformats.org/drawingml/2006/main">
              <a:ext uri="{FF2B5EF4-FFF2-40B4-BE49-F238E27FC236}">
                <a16:creationId xmlns:a16="http://schemas.microsoft.com/office/drawing/2014/main" id="{78C92078-9F3D-4897-81DE-D0343304FBA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3875" y="971550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lnSpc>
                <a:spcPct val="100000"/>
              </a:lnSpc>
              <a:buNone/>
              <a:defRPr sz="2000" b="1">
                <a:gradFill flip="none" rotWithShape="1"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5">
                        <a:lumMod val="75000"/>
                      </a:schemeClr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  <a:lvl2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下一阶段的实验顺序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812887-03F9-4C5D-9E66-2516AAEF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29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10 / 10</a:t>
            </a:r>
          </a:p>
        </p:txBody>
      </p:sp>
      <p:sp>
        <p:nvSpPr>
          <p:cNvPr id="3" name="next-step-0">
            <a:extLst xmlns:a="http://schemas.openxmlformats.org/drawingml/2006/main">
              <a:ext uri="{FF2B5EF4-FFF2-40B4-BE49-F238E27FC236}">
                <a16:creationId xmlns:a16="http://schemas.microsoft.com/office/drawing/2014/main" id="{03605AA7-3E4E-46D1-AAC1-029747C7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next-title-0">
            <a:extLst xmlns:a="http://schemas.openxmlformats.org/drawingml/2006/main">
              <a:ext uri="{FF2B5EF4-FFF2-40B4-BE49-F238E27FC236}">
                <a16:creationId xmlns:a16="http://schemas.microsoft.com/office/drawing/2014/main" id="{D8B6A604-D330-4D47-A024-0EB88FB6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573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真实集成</a:t>
            </a:r>
          </a:p>
        </p:txBody>
      </p:sp>
      <p:sp>
        <p:nvSpPr>
          <p:cNvPr id="5" name="next-detail-0">
            <a:extLst xmlns:a="http://schemas.openxmlformats.org/drawingml/2006/main">
              <a:ext uri="{FF2B5EF4-FFF2-40B4-BE49-F238E27FC236}">
                <a16:creationId xmlns:a16="http://schemas.microsoft.com/office/drawing/2014/main" id="{630D8C75-EDF3-4EE2-957B-9DA36EA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7642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获授权后，在少量 dev 验证模型与容器链路</a:t>
            </a:r>
          </a:p>
        </p:txBody>
      </p:sp>
      <p:sp>
        <p:nvSpPr>
          <p:cNvPr id="6" name="next-step-1">
            <a:extLst xmlns:a="http://schemas.openxmlformats.org/drawingml/2006/main">
              <a:ext uri="{FF2B5EF4-FFF2-40B4-BE49-F238E27FC236}">
                <a16:creationId xmlns:a16="http://schemas.microsoft.com/office/drawing/2014/main" id="{48C8A7FF-C75F-4FBA-A0F6-AEAB4584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next-title-1">
            <a:extLst xmlns:a="http://schemas.openxmlformats.org/drawingml/2006/main">
              <a:ext uri="{FF2B5EF4-FFF2-40B4-BE49-F238E27FC236}">
                <a16:creationId xmlns:a16="http://schemas.microsoft.com/office/drawing/2014/main" id="{252495A9-9924-4348-A9E2-404276F5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527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开发集校准</a:t>
            </a:r>
          </a:p>
        </p:txBody>
      </p:sp>
      <p:sp>
        <p:nvSpPr>
          <p:cNvPr id="8" name="next-detail-1">
            <a:extLst xmlns:a="http://schemas.openxmlformats.org/drawingml/2006/main">
              <a:ext uri="{FF2B5EF4-FFF2-40B4-BE49-F238E27FC236}">
                <a16:creationId xmlns:a16="http://schemas.microsoft.com/office/drawing/2014/main" id="{AD79D9FE-8615-450A-A850-67E31A4B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7177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校准完整路由、预算和前缀比例，冻结版本与配置</a:t>
            </a:r>
          </a:p>
        </p:txBody>
      </p:sp>
      <p:sp>
        <p:nvSpPr>
          <p:cNvPr id="9" name="next-step-2">
            <a:extLst xmlns:a="http://schemas.openxmlformats.org/drawingml/2006/main">
              <a:ext uri="{FF2B5EF4-FFF2-40B4-BE49-F238E27FC236}">
                <a16:creationId xmlns:a16="http://schemas.microsoft.com/office/drawing/2014/main" id="{0C7389F6-0532-42BF-AFA5-6F9E9045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" name="next-title-2">
            <a:extLst xmlns:a="http://schemas.openxmlformats.org/drawingml/2006/main">
              <a:ext uri="{FF2B5EF4-FFF2-40B4-BE49-F238E27FC236}">
                <a16:creationId xmlns:a16="http://schemas.microsoft.com/office/drawing/2014/main" id="{73FC76C3-FD64-4E48-8504-6C8AF906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480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正式重复</a:t>
            </a:r>
          </a:p>
        </p:txBody>
      </p:sp>
      <p:sp>
        <p:nvSpPr>
          <p:cNvPr id="11" name="next-detail-2">
            <a:extLst xmlns:a="http://schemas.openxmlformats.org/drawingml/2006/main">
              <a:ext uri="{FF2B5EF4-FFF2-40B4-BE49-F238E27FC236}">
                <a16:creationId xmlns:a16="http://schemas.microsoft.com/office/drawing/2014/main" id="{88692C60-6D84-4536-9855-E78BFFF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6712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固定 test 总体或分层子集，至少三次重复</a:t>
            </a:r>
          </a:p>
        </p:txBody>
      </p:sp>
      <p:sp>
        <p:nvSpPr>
          <p:cNvPr id="12" name="next-step-3">
            <a:extLst xmlns:a="http://schemas.openxmlformats.org/drawingml/2006/main">
              <a:ext uri="{FF2B5EF4-FFF2-40B4-BE49-F238E27FC236}">
                <a16:creationId xmlns:a16="http://schemas.microsoft.com/office/drawing/2014/main" id="{7AD7ABBE-6E37-437E-BCAA-239FCBD4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71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3" name="next-title-3">
            <a:extLst xmlns:a="http://schemas.openxmlformats.org/drawingml/2006/main">
              <a:ext uri="{FF2B5EF4-FFF2-40B4-BE49-F238E27FC236}">
                <a16:creationId xmlns:a16="http://schemas.microsoft.com/office/drawing/2014/main" id="{AF55ADDD-3EC7-4477-AF35-631BFA1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434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解释与审查</a:t>
            </a:r>
          </a:p>
        </p:txBody>
      </p:sp>
      <p:sp>
        <p:nvSpPr>
          <p:cNvPr id="14" name="next-detail-3">
            <a:extLst xmlns:a="http://schemas.openxmlformats.org/drawingml/2006/main">
              <a:ext uri="{FF2B5EF4-FFF2-40B4-BE49-F238E27FC236}">
                <a16:creationId xmlns:a16="http://schemas.microsoft.com/office/drawing/2014/main" id="{9AF9065E-B45B-4850-8FDF-0DEF689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62475"/>
            <a:ext cx="714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实例聚类 95% 区间，补消融、敏感性与人工审查</a:t>
            </a:r>
          </a:p>
        </p:txBody>
      </p:sp>
      <p:sp>
        <p:nvSpPr>
          <p:cNvPr id="15" name="current-gate">
            <a:extLst xmlns:a="http://schemas.openxmlformats.org/drawingml/2006/main">
              <a:ext uri="{FF2B5EF4-FFF2-40B4-BE49-F238E27FC236}">
                <a16:creationId xmlns:a16="http://schemas.microsoft.com/office/drawing/2014/main" id="{ECEC2D97-21E8-4441-978D-798E4A6D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当前配置保持 draft，付费执行保持关闭</a:t>
            </a:r>
          </a:p>
        </p:txBody>
      </p:sp>
    </p:spTree>
    <p:extLst>
      <p:ext uri="{BB962C8B-B14F-4D97-AF65-F5344CB8AC3E}">
        <p14:creationId xmlns:p14="http://schemas.microsoft.com/office/powerpoint/2010/main" val="187962752"/>
      </p:ext>
    </p:extLst>
  </p:cSld>
</p:sld>
</file>

<file path=ppt/theme/theme1.xml><?xml version="1.0" encoding="utf-8"?>
<a:theme xmlns:a="http://schemas.openxmlformats.org/drawingml/2006/main" name="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2026-10-29T10:03:40.9430000Z</dcterms:created>
  <dcterms:modified xsi:type="dcterms:W3CDTF">2026-10-29T10:03:40.9430000Z</dcterms:modified>
</coreProperties>
</file>